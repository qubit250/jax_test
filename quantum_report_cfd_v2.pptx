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53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535"/>
                </a:solidFill>
                <a:latin typeface="Arial"/>
              </a:rPr>
              <a:t>局在化指数 ⟨ZI⟩ vs ε_Stark  (g=0.5, T=4.0)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IBM 実機</c:v>
                </c:pt>
              </c:strCache>
            </c:strRef>
          </c:tx>
          <c:spPr>
            <a:solidFill>
              <a:srgbClr val="17C3B2"/>
            </a:solidFill>
            <a:ln w="31750" cap="flat">
              <a:solidFill>
                <a:srgbClr val="17C3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7C3B2"/>
              </a:solidFill>
              <a:ln w="9525" cap="flat">
                <a:solidFill>
                  <a:srgbClr val="17C3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0.00</c:v>
                  </c:pt>
                  <c:pt idx="1">
                    <c:v>0.25</c:v>
                  </c:pt>
                  <c:pt idx="2">
                    <c:v>0.50</c:v>
                  </c:pt>
                  <c:pt idx="3">
                    <c:v>1.00</c:v>
                  </c:pt>
                  <c:pt idx="4">
                    <c:v>2.00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0.2302</c:v>
                </c:pt>
                <c:pt idx="1">
                  <c:v>0.49</c:v>
                </c:pt>
                <c:pt idx="2">
                  <c:v>0.7429</c:v>
                </c:pt>
                <c:pt idx="3">
                  <c:v>0.9751</c:v>
                </c:pt>
                <c:pt idx="4">
                  <c:v>0.8113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厳密解</c:v>
                </c:pt>
              </c:strCache>
            </c:strRef>
          </c:tx>
          <c:spPr>
            <a:solidFill>
              <a:srgbClr val="1B4F72"/>
            </a:solidFill>
            <a:ln w="31750" cap="flat">
              <a:solidFill>
                <a:srgbClr val="1B4F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4F72"/>
              </a:solidFill>
              <a:ln w="9525" cap="flat">
                <a:solidFill>
                  <a:srgbClr val="1B4F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0.00</c:v>
                  </c:pt>
                  <c:pt idx="1">
                    <c:v>0.25</c:v>
                  </c:pt>
                  <c:pt idx="2">
                    <c:v>0.50</c:v>
                  </c:pt>
                  <c:pt idx="3">
                    <c:v>1.00</c:v>
                  </c:pt>
                  <c:pt idx="4">
                    <c:v>2.00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0.2463</c:v>
                </c:pt>
                <c:pt idx="1">
                  <c:v>0.4955</c:v>
                </c:pt>
                <c:pt idx="2">
                  <c:v>0.7439</c:v>
                </c:pt>
                <c:pt idx="3">
                  <c:v>0.9956</c:v>
                </c:pt>
                <c:pt idx="4">
                  <c:v>0.8086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53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535"/>
                </a:solidFill>
                <a:latin typeface="Arial"/>
              </a:rPr>
              <a:t>分子軌道電荷占有数 n_d  vs  結合強度 V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IBM 実機</c:v>
                </c:pt>
              </c:strCache>
            </c:strRef>
          </c:tx>
          <c:spPr>
            <a:solidFill>
              <a:srgbClr val="17C3B2"/>
            </a:solidFill>
            <a:ln w="31750" cap="flat">
              <a:solidFill>
                <a:srgbClr val="17C3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7C3B2"/>
              </a:solidFill>
              <a:ln w="9525" cap="flat">
                <a:solidFill>
                  <a:srgbClr val="17C3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0.10</c:v>
                  </c:pt>
                  <c:pt idx="1">
                    <c:v>0.20</c:v>
                  </c:pt>
                  <c:pt idx="2">
                    <c:v>0.30</c:v>
                  </c:pt>
                  <c:pt idx="3">
                    <c:v>0.50</c:v>
                  </c:pt>
                  <c:pt idx="4">
                    <c:v>0.80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0.8789</c:v>
                </c:pt>
                <c:pt idx="1">
                  <c:v>0.6304</c:v>
                </c:pt>
                <c:pt idx="2">
                  <c:v>0.4066</c:v>
                </c:pt>
                <c:pt idx="3">
                  <c:v>0.5033</c:v>
                </c:pt>
                <c:pt idx="4">
                  <c:v>0.9484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厳密解</c:v>
                </c:pt>
              </c:strCache>
            </c:strRef>
          </c:tx>
          <c:spPr>
            <a:solidFill>
              <a:srgbClr val="1B4F72"/>
            </a:solidFill>
            <a:ln w="31750" cap="flat">
              <a:solidFill>
                <a:srgbClr val="1B4F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4F72"/>
              </a:solidFill>
              <a:ln w="9525" cap="flat">
                <a:solidFill>
                  <a:srgbClr val="1B4F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0.10</c:v>
                  </c:pt>
                  <c:pt idx="1">
                    <c:v>0.20</c:v>
                  </c:pt>
                  <c:pt idx="2">
                    <c:v>0.30</c:v>
                  </c:pt>
                  <c:pt idx="3">
                    <c:v>0.50</c:v>
                  </c:pt>
                  <c:pt idx="4">
                    <c:v>0.80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0.8931</c:v>
                </c:pt>
                <c:pt idx="1">
                  <c:v>0.6417</c:v>
                </c:pt>
                <c:pt idx="2">
                  <c:v>0.4099</c:v>
                </c:pt>
                <c:pt idx="3">
                  <c:v>0.5048</c:v>
                </c:pt>
                <c:pt idx="4">
                  <c:v>0.96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.35"/>
        </c:scaling>
        <c:delete val="0"/>
        <c:axPos val="l"/>
        <c:majorGridlines>
          <c:spPr>
            <a:ln w="635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(%)</c:v>
                </c:pt>
              </c:strCache>
            </c:strRef>
          </c:tx>
          <c:spPr>
            <a:solidFill>
              <a:srgbClr val="17C3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5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LZ
(コスト最小)</c:v>
                  </c:pt>
                  <c:pt idx="1">
                    <c:v>RZ
(コスト最小)</c:v>
                  </c:pt>
                  <c:pt idx="2">
                    <c:v>JT
(中コスト)</c:v>
                  </c:pt>
                  <c:pt idx="3">
                    <c:v>Berry
位相(極小)</c:v>
                  </c:pt>
                  <c:pt idx="4">
                    <c:v>SB
(中コスト)</c:v>
                  </c:pt>
                  <c:pt idx="5">
                    <c:v>Stark-SB
(中コスト)</c:v>
                  </c:pt>
                  <c:pt idx="6">
                    <c:v>AN
(高コスト)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0.89</c:v>
                </c:pt>
                <c:pt idx="2">
                  <c:v>2</c:v>
                </c:pt>
                <c:pt idx="3">
                  <c:v>0</c:v>
                </c:pt>
                <c:pt idx="4">
                  <c:v>1.26</c:v>
                </c:pt>
                <c:pt idx="5">
                  <c:v>0.75</c:v>
                </c:pt>
                <c:pt idx="6">
                  <c:v>0.84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5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"/>
          <c:min val="0"/>
        </c:scaling>
        <c:delete val="0"/>
        <c:axPos val="l"/>
        <c:majorGridlines>
          <c:spPr>
            <a:ln w="6350" cap="flat">
              <a:solidFill>
                <a:srgbClr val="E0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MAE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本発表は量子コンピューティングの専門知識を前提としません。CFD・数値解析の視点から「精度・コスト・物理的知見」を中心に説明します。量子回路 = 特殊な数値積分スキームと捉えると理解しやすいです。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量子用語を最小限にし、CFD・数値解析の視点から説明します。「量子ゲート数 (CNOT)」= 計算コスト、「ショット数」= 統計サンプル数、「Trotter 分解」= 時間積分スキームに対応します。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非断熱問題: Born-Oppenheimer 近似が破れると状態数が 2^N に爆発。DNS のレイノルズ数スケーリングより急峻な増大。MCTDH は CFD の AMR (適応格子) に相当する最先端古典手法だが、自由度 ~20 が現実的限界。量子コンピュータはこの壁を超える可能性を持つ (現段階では小系での検証ステージ)。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【経営層向けプレゼンのポイント】
①〜④の発見は「示唆」「確認」「予測」レベルです。「実証」「決定」と表現しないでください。
特に CNT 臨界径 1.2 nm は実験未検証のスケーリング則からの推定値です。設計基準として採用する前に実験的検証が必要です。
ANモデルの MAE 0.84% は「2 qubit の最小モデルでの回路精度」であり、実際の CNT デバイスの電荷移動速度の予測精度ではありません。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T1 緩和 vs 数値拡散の補足:
T1 は量子状態の振幅が指数的に減衰する量子力学的過程 (τ_T1 ≈ 100〜1000 μs)。数値拡散は空間差分の打ち切り誤差。物理的には全く異なりますが、「系を平衡状態に引き戻す方向の一方的な誤差」という意味で直感的な類比として使用しています。
MAE の定義の差:
本研究: |量子回路出力 − 解析解| の平均 = 「実装精度」
CFD: |数値解 − 実験値| の平均 = 「総合精度 (モデル + 数値 + 実験誤差を含む)」
直接比較する際は定義の違いを必ず明示してください。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「自由度」= qubit 数。2 qubit = 4 状態 = 2×2 密度行列の時間発展。計算コスト (CNOT) は CFD の行列-ベクトル積数に相当。最大 80 CNOT でも MAE = 0.84%。モデル 1〜2: 時間変化場への応答 (1自由度)。3〜7: 2体結合を含む量子多体問題。AN (7番) が最も実際の CNT 界面に近い物理を表現。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LZ: 時間変化境界条件のもとでの流れ応答に相当。CNOT=0 でも 2% — ショットノイズ (∝ 1/√8192 ≈ 1.1%) が主因。
RZ: パルス形状を sech(t/τ) に変えたモデル。15 通りのパラメータを系統的に測定し MAE=0.89%。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JT: 電子-核振動の 2 自由度連成。g は流体-構造連成の結合係数に相当。
Berry 位相と Stokes 定理の類比:
Berry 位相 = ∮_C 〈ψ|∇_R|ψ〉·dR (パラメータ空間の閉路積分)
Stokes の渦度積分 = ∮_C v·dl = ∬_S (∇×v)·dA と類似した数学構造を持つ。
「閉じた経路を一周したときに積み上がる位相」がトポロジカルに保護される点で類似したロバスト性を示す。CFD 保存則 (質量・運動量) とは異なるメカニズムだが、ノイズに対する頑健性という観点で類比できる。
重要: Berry 位相 0% は「2 qubit 最小モデルの特定パラメータでの観測結果」であり、汎用的なノイズ耐性を主張するものではない。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Kondo パラメータ α と Re 数の類比について:
α は量子多体系の相転移を支配する無次元結合定数。Re は慣性力/粘性力の比。両者は全く異なる物理量だが、「制御パラメータが閾値を超えると系の振る舞いが質的に変わる」という意味で類似した役割を持つ。
重要な注意:
- CNT(10,10) の α ≈ 0.65 はモデル推定値 (実測値ではない)
- Marcus 理論については: 大径 CNT で適用可能と推定されるが、量子補正が無視できるかは実験・DFT 計算で要検証
- 細径 CNT (d &lt; 1.2 nm) では非断熱補正が重要となる可能性があり、Marcus 理論単独では不十分となる場合がある
「Marcus 不適」という断定的表現は避けること。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ε_Stark = 外部電場の強度。ε を増やすと実効周波数 Ω = √(ε²+Δ²) が増大。
  ε=0: Ω·T ≈ 0.5 → 遷移初期
  ε=1.0: Ω·T ≈ 2.2 → 建設的干渉で局在化最大
  ε=2.0: Ω·T ≈ 3.3 → 「戻り」フェーズ → ⟨ZI⟩ が減少
非単調性は CFD の「共振周波数」応答と類似した原理で、最適な「ゲート電圧」の存在を示唆。IBM 実機で確認 (MAE=0.75%)。
注: 本結果は固定された T=4.0 でのスナップショット。実際のデバイスへの適用には時間依存性の評価も必要。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【最重要スライド — AN モデルの意義を強調】
Anderson-Newns モデルが本研究の「最も実アプリに近いモデル」である理由:
1. CNT ⇔ 官能基間の電荷移動は「電子が金属のフェルミ海に放出/吸収される」フェルミオン過程。ANモデルはこれを直接記述。
2. V (ホッピング積分) は実験的に測定可能な電子移動積分に対応。V をスキャンすることで CNT デバイスの接触抵抗依存性を模擬。
3. MAE=0.84% は CNOT=80 という最高計算コストでも達成 → ハードウェア品質が重要。
注意事項:
- 本モデルは 2 qubit の最小モデル。実際の CNT には多数の k 点があり、完全なモデル化には多 qubit が必要。
- n_d の絶対値よりも V 依存性 (非単調性) の傾向が重要な物理情報。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CFD 専門家向け補足:
①「観測」: 2 qubit の最小モデルで特定パラメータでの測定結果。汎用的なノイズ耐性ではなく、この特定系でのトポロジカル保護の観測。
③「予測」: α ∝ d² のスケーリング則から推定した値。g の径依存性が有意な場合は異なる。実験・DFT 計算での検証が必要。
④ CFD との精度比較: 定義が異なる (本研究: 厳密解との誤差, CFD: 実験との誤差)。「水準に近い」という表現を使用。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【重要な注意事項 — CFD 専門家向け】
臨界径 1.2 nm は「実験的に確立された値」ではなく「スケーリング則からの予測値」です。設計基準として採用する前に:
1. Raman 分光による α の実測
2. DFT/TDDFT 計算で g の径依存性を評価
3. Marcus 理論との電子移動速度の比較実験
スケーリング則の意味: ω_RBM (ラジアル呼吸モード) はCNTの「固有振動数」(ω ∝ 1/d)。これにより α = 2g²/ω² ∝ d²。しかし g が径に依存する場合 (変形ポテンシャル近似が破れる場合)、スケーリングが変わります。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精度評価の注意:
「CFD と同水準」という表現は正確ではない。本研究の MAE は「2 qubit 量子回路が解析解をどれだけ再現できるか」の指標。CFD の MAE は「数値手法が実験をどれだけ再現できるか」。定義が根本的に異なる。
「CFD で許容される工学的誤差水準 (1〜3%) に近い」が正確な表現。
Berry 位相の 0%: 評価量が異なるため他モデルと直接比較不可。位相量の測定誤差 0% と、確率振幅の MAE 12.7% は別物。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CFD 専門家への橋渡し:
近接課題: Stark 二次元スキャン = CFD のパラメータスタディ。多点測定の自動化が可能。
中期課題: Marcus 速度定数の量子シミュレーション → CFD の反応速度論モデルへの入力として使用可。ただし実験との比較検証が先決。
長期 (FT-QC): 2027年以降の計画。現行 NISQ は物理機構の定性的解明と仮説の定量的検証に有用。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締めのメッセージ:
「量子シミュレーションが CFD に置き換わる」のではなく「CFD が計算困難な領域 (量子多体・非断熱・Kondo 効果) を補完するツール」として位置付けてください。
連携像: 量子シミュレーション → 電子移動速度定数 k_et(T, V) を計算 → CFD の反応ソース項として入力 → より正確な CNT デバイスの輸送シミュレーション。
現段階の位置付けを明確に: 基礎検証ステージ (Proof of Concept)。商用応用には更なる研究が必要。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3291840" cy="3291840"/>
          </a:xfrm>
          <a:prstGeom prst="ellipse">
            <a:avLst/>
          </a:prstGeom>
          <a:solidFill>
            <a:srgbClr val="17C3B2">
              <a:alpha val="17000"/>
            </a:srgbClr>
          </a:solidFill>
          <a:ln w="12700">
            <a:solidFill>
              <a:srgbClr val="17C3B2">
                <a:alpha val="1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926080"/>
            <a:ext cx="2011680" cy="2011680"/>
          </a:xfrm>
          <a:prstGeom prst="ellipse">
            <a:avLst/>
          </a:prstGeom>
          <a:solidFill>
            <a:srgbClr val="17C3B2">
              <a:alpha val="28000"/>
            </a:srgbClr>
          </a:solidFill>
          <a:ln w="12700">
            <a:solidFill>
              <a:srgbClr val="17C3B2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3657600"/>
            <a:ext cx="1828800" cy="1828800"/>
          </a:xfrm>
          <a:prstGeom prst="ellipse">
            <a:avLst/>
          </a:prstGeom>
          <a:solidFill>
            <a:srgbClr val="17C3B2">
              <a:alpha val="15000"/>
            </a:srgbClr>
          </a:solidFill>
          <a:ln w="12700">
            <a:solidFill>
              <a:srgbClr val="17C3B2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34440"/>
            <a:ext cx="64008" cy="2651760"/>
          </a:xfrm>
          <a:prstGeom prst="rect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789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CNT + 官能基分子の非断熱反応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量子ハードウェア検証レポート  ―  CFD 専門家向け解説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4963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C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PennyLane + IBM Quantum Platform (Heron r2)  ·  7 モデル  ·  3 バックエンド  ·  MAE &lt; 2.1%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636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2026-07-23　|　社内量子コンピュータイニシアティブ 定例報告会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本日のアジェンダ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512064" cy="512064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98755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研究背景・動機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29844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との類比: なぜ量子計算で分子-金属界面を模擬するか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1645920"/>
            <a:ext cx="7680960" cy="10973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810512"/>
            <a:ext cx="512064" cy="512064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10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79222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エグゼクティブサマリー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1031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経営層・技術管理職向け 3 分サマリー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" y="2450592"/>
            <a:ext cx="7680960" cy="10973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615184"/>
            <a:ext cx="512064" cy="512064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6151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59689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量子シミュレーションの仕組み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290779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時間積分・誤差源・精度を CFD アナロジーで説明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5840" y="3255264"/>
            <a:ext cx="7680960" cy="10973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419856"/>
            <a:ext cx="512064" cy="512064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419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40156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実装した 7 モデルと実機結果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371246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単純モデルから複雑モデルへの段階的拡張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05840" y="4059936"/>
            <a:ext cx="7680960" cy="10973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4224528"/>
            <a:ext cx="512064" cy="51206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224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42062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主要な知見と今後の展望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51560" y="451713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トポロジカル保護・非単調 Stark 応答・CNT 臨界径の予測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研究背景: なぜ量子シミュレーションか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32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古典計算の限界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3441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非断熱電子-核結合: 状態数が指数的増大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739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MCTDH 法: 自由度 ~20 で計算限界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037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多体 Kondo 効果: 摂動展開が発散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15968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846320" y="932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量子シミュレーションの優位性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3441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実時間ダイナミクスを自然表現できる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7739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Trotter 誤差は制御・定量化可能 (CFD の Δt 誤差と同様)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2037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小系から段階的スケールアップ可能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18688"/>
            <a:ext cx="8229600" cy="1627632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918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本研究のスコープ: CNT + 官能基分子系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675888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カーボンナノチューブ (CNT) と官能基 (-COOH, -OH 等) の界面における非断熱電荷移動・エネルギー移動を量子回路で模擬。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単純な 1 自由度モデルから 2 自由度モデルまで 7 種類を IBM 量子実機で検証し、厳密解 (解析解) と定量比較した。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エグゼクティブサマリー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63640" y="182880"/>
            <a:ext cx="2423160" cy="393192"/>
          </a:xfrm>
          <a:prstGeom prst="roundRect">
            <a:avLst>
              <a:gd name="adj" fmla="val 23256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63640" y="182880"/>
            <a:ext cx="2423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経営層・技術管理職向け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42416"/>
            <a:ext cx="438912" cy="438912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42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024128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量子実機で 7 モデルを検証 — MAE &lt; 2.1%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1389888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最小モデル (1 自由度) から最大モデル (2 自由度・フェルミオン) まで段階的に拡張。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全モデルで CFD で許容される工学的誤差水準に近い精度を確認した (比較基準の定義は異なる)。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1911096"/>
            <a:ext cx="7772400" cy="10973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029968"/>
            <a:ext cx="438912" cy="43891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29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87552" y="2011680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Anderson-Newns モデルを初めて実機で検証 (MAE = 0.84%)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87552" y="237744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金属フェルミ電子への直接電荷移動を模擬する、本研究で最も実アプリケーションに近いモデル。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CNT ⇔ 官能基間の電子移動積分 V に対する電荷占有数の依存性を実機上で測定した。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2898648"/>
            <a:ext cx="7772400" cy="10973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017520"/>
            <a:ext cx="438912" cy="43891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17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7552" y="2999232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CNT 臨界径 d_c ≈ 1.2 nm をスケーリング則から予測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87552" y="3364992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2g²/ω² ∝ d² の仮定の下、d &lt; 1.2 nm では非断熱補正が重要となる可能性を示唆。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定量的な結論には実験・DFT 計算による検証が必要。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4400" y="3886200"/>
            <a:ext cx="7772400" cy="10973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4005072"/>
            <a:ext cx="438912" cy="43891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005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87552" y="3986784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非単調 Stark 応答を確認 — 最適動作点の存在を示唆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7552" y="43525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外場強度 ε ≈ 2Δ で系の応答が極大となることを IBM 実機・厳密解の双方で確認。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デバイス設計における最適パラメータ選択への応用が期待される (さらなる実験検証が必要)。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4709160"/>
            <a:ext cx="8321040" cy="320040"/>
          </a:xfrm>
          <a:prstGeom prst="rect">
            <a:avLst/>
          </a:prstGeom>
          <a:solidFill>
            <a:srgbClr val="FFF8E5"/>
          </a:solidFill>
          <a:ln w="12700">
            <a:solidFill>
              <a:srgbClr val="FFF8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7457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【留意事項】本結果は量子回路実装精度の検証であり、実験との直接比較ではありません。定量的な設計判断には追加検証が必要です。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量子シミュレーション ↔ 数値解析の対応関係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182880"/>
            <a:ext cx="2011680" cy="393192"/>
          </a:xfrm>
          <a:prstGeom prst="roundRect">
            <a:avLst>
              <a:gd name="adj" fmla="val 23256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0" y="182880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専門家向け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32104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3246120"/>
                <a:gridCol w="22860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量子シミュレーション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数値解析 / CFD の類比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本研究での値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qubit (2 値量子状態)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格子点の状態変数 φ ∈ {0,1}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qubit = 2 自由度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Trotter 分解 (時間積分)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時間積分スキーム (operator splitting)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N_steps = 20, dt = 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量子ゲート数 (CNOT)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演算コスト / 行列-ベクトル積数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0〜80 CNOT / 回路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ショット数 (統計サンプル)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モンテカルロ統計誤差 ∝ 1/√N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8,192 shots → ≈1.1% ノイズ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緩和 (ハードウェア雑音)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直感的には数値拡散に近い振る舞い (※物理的には異なる)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全測定値を過小評価する方向に作用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Trotter 誤差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時間離散化誤差 O(Δt²)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Δt=0.2 で ~0.06% 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(平均絶対誤差)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検証精度指標 (厳密解との比較)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0.75〜2.0%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663440"/>
            <a:ext cx="8321040" cy="365760"/>
          </a:xfrm>
          <a:prstGeom prst="rect">
            <a:avLst/>
          </a:prstGeom>
          <a:solidFill>
            <a:srgbClr val="FFF8E5"/>
          </a:solidFill>
          <a:ln w="12700">
            <a:solidFill>
              <a:srgbClr val="FFF8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70001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MAE の定義に注意: 本研究は「厳密解 (解析解) との誤差」。CFD の MAE (モデル誤差 + 格子誤差 + 実験誤差) とは定義が異なります。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実装した 7 モデル: 概要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2724912"/>
                <a:gridCol w="713232"/>
                <a:gridCol w="1097280"/>
                <a:gridCol w="804672"/>
                <a:gridCol w="2048256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モデル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自由度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計算コスト*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バックエンド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Landau-Zener (LZ)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最小 (0)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ibm_kingston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Rosen-Zener (RZ)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最小 (0)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ibm_marrakesh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Jahn-Teller (JT)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 (40)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ibm_fez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Berry 位相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極小 (2)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ibm_fez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Spin-Boson (SB)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 (40)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ibm_marrakesh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Stark-SB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 (40)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ibm_marrakesh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Anderson-Newns (AN) ◀ 最重要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 (80)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ibm_marrakesh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計算コスト = 量子 CNOT ゲート数 / 回路 (多いほどハードウェアノイズの影響を受けやすい)。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Berry 位相は測定値 (overlap) の MAE = 12.7% だが、位相 γ 自体の誤差は 0%。測定量が異なるため別評価。AN: 本研究で初めて実機検証したフェルミオン電荷移動モデル。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自由度モデル: 線形・sech パルス外場応答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3931920" cy="3913632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058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Landau-Zener (LZ)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0352" y="1353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線形掃引外場 B(t) = αt への遷移確率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ibm_kingston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670048" y="1737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バックエンド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21579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 (0)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670048" y="21579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計算コスト (CNOT)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578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~2.0%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670048" y="25786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29992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線形時間変化磁場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670048" y="29992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物理モデル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34198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ショット + 読み出し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670048" y="34198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主誤差源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9136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~2.0%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914400" y="4480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914400"/>
            <a:ext cx="3931920" cy="3913632"/>
          </a:xfrm>
          <a:prstGeom prst="rect">
            <a:avLst/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10058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Rosen-Zener (RZ)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10912" y="1353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sech パルス外場への遷移 (全 15 パラメータ条件)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10912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ibm_marrakesh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42048" y="1737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バックエンド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10912" y="21579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 (0)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242048" y="21579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計算コスト (CNOT)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10912" y="2578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0.89%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242048" y="25786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(全 15 条件)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10912" y="29992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sech パルス周期振動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242048" y="29992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物理モデル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10912" y="34198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ショット + 読み出し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242048" y="34198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主誤差源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0" y="39136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0.89%</a:t>
            </a:r>
            <a:endParaRPr lang="en-US" sz="4200" dirty="0"/>
          </a:p>
        </p:txBody>
      </p:sp>
      <p:sp>
        <p:nvSpPr>
          <p:cNvPr id="33" name="Text 31"/>
          <p:cNvSpPr/>
          <p:nvPr/>
        </p:nvSpPr>
        <p:spPr>
          <a:xfrm>
            <a:off x="5486400" y="4480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Jahn-Teller 時間発展 &amp; Berry 位相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3977640" cy="3913632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875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Jahn-Teller (JT)  —  電子-核結合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0352" y="1335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自由度: 電子状態 + 核振動 (g = 結合強度)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73352"/>
          <a:ext cx="374904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024128"/>
                <a:gridCol w="1024128"/>
                <a:gridCol w="1014984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P_IBM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P_exact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誤差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30352" y="40599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2.0%  |  CNOT = 40  |  ibm_fez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30352" y="4352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 P_IBM &lt; P_exact → ハードウェア T1 散逸の系統誤差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00600" y="914400"/>
            <a:ext cx="3977640" cy="3913632"/>
          </a:xfrm>
          <a:prstGeom prst="rect">
            <a:avLst/>
          </a:prstGeom>
          <a:solidFill>
            <a:srgbClr val="E8F8F5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56048" y="9875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Berry 位相  —  幾何学的位相の測定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120640" y="14173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0" dirty="0"/>
          </a:p>
        </p:txBody>
      </p:sp>
      <p:sp>
        <p:nvSpPr>
          <p:cNvPr id="13" name="Text 10"/>
          <p:cNvSpPr/>
          <p:nvPr/>
        </p:nvSpPr>
        <p:spPr>
          <a:xfrm>
            <a:off x="5120640" y="23957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位相誤差 (CNOT = 2 の軽量回路)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937760" y="2788920"/>
            <a:ext cx="3703320" cy="13716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56048" y="28529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γ = π を再現 (誤差 0.000% を観測)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56048" y="325526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測定値 (overlap) の誤差 12.7% でも位相は保護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956048" y="36576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CFD 類比: 渦度の閉路積分 (Stokes則) と類似構造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956048" y="40599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トポロジカル保護によりノイズに頑健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Spin-Boson モデル: コヒーレント-局在化クロスオーバー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160520" cy="3913632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87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 (スピン) + フォノン場の結合  |  α = 2g²/ω²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16736"/>
          <a:ext cx="3977640" cy="914400"/>
        </p:xfrm>
        <a:graphic>
          <a:graphicData uri="http://schemas.openxmlformats.org/drawingml/2006/table">
            <a:tbl>
              <a:tblPr/>
              <a:tblGrid>
                <a:gridCol w="530352"/>
                <a:gridCol w="530352"/>
                <a:gridCol w="960120"/>
                <a:gridCol w="1005840"/>
                <a:gridCol w="95097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⟨ZI⟩_IBM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⟨ZI⟩_exact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状態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-0.2512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-0.2537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コヒーレント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境界 (ゼロ)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+0.2302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+0.2463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C3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Toulouse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+0.3875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+0.3639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局在化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+0.4888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+0.4918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強局在化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30352" y="4096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1.26%  |  CNOT = 40  |  ibm_marrakesh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30352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⟨ZI⟩ の符号変化 (負→正) でクロスオーバーを観測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0916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Kondo パラメータ α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709160" y="12618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制御パラメータとして Re 数と類似した役割 (物理量として同一ではない)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572768"/>
            <a:ext cx="1188720" cy="118872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09160" y="1572768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&lt; 0.5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663440" y="2834640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コヒーレント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トンネル支配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(※層流的類比)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80760" y="1572768"/>
            <a:ext cx="1188720" cy="1188720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1572768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0.5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035040" y="2834640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Toulouse 点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高感受率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(※Re_c 的類比)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452360" y="1572768"/>
            <a:ext cx="1188720" cy="118872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52360" y="1572768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&gt; 0.5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406640" y="2834640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局在化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古典速度論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(※乱流的類比)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577840" y="189280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9C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6949440" y="189280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9C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4709160" y="3611880"/>
            <a:ext cx="4023360" cy="1188720"/>
          </a:xfrm>
          <a:prstGeom prst="rect">
            <a:avLst/>
          </a:prstGeom>
          <a:solidFill>
            <a:srgbClr val="EBF5FB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3685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CNT(10,10) → α ≈ 0.65 (局在化相と推定)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846320" y="3986784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本モデル結果から CNT(10,10) が局在化相と推定 (g≈一定近似下)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α ∝ d²  →  臨界径 d_c ≈ 1.2 nm の存在を示唆 (要実験検証)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 &gt; 1.2 nm では古典速度論が近似的に適用可と推定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Stark-Spin-Boson: 非単調応答の確認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46520" y="182880"/>
            <a:ext cx="2240280" cy="393192"/>
          </a:xfrm>
          <a:prstGeom prst="roundRect">
            <a:avLst>
              <a:gd name="adj" fmla="val 23256"/>
            </a:avLst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182880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3931920" cy="301752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3749040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969264"/>
                <a:gridCol w="1005840"/>
                <a:gridCol w="8961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ε_Stark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⟨ZI⟩_IBM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⟨ZI⟩_exact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誤差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+0.2302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+0.2463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+0.4900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+0.4955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+0.7429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+0.7439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+0.9751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+0.9956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+0.8113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+0.8086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30352" y="333756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0.75%  (全 7 モデル中最高精度)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ibm_marrakesh | CNOT = 40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434840" y="914400"/>
          <a:ext cx="42519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6"/>
          <p:cNvSpPr/>
          <p:nvPr/>
        </p:nvSpPr>
        <p:spPr>
          <a:xfrm>
            <a:off x="365760" y="4005072"/>
            <a:ext cx="8321040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407822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ε=1.0 (=2Δ) で局在化が極大 → ε=2.0 で量子干渉により再び減少 → 最適動作点 ε_opt ≈ 2Δ の存在を示唆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48640" y="44531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実機・厳密解の双方で非単調性を確認。デバイス設計における最適パラメータ選択への応用が期待される (さらなる実験検証が必要)。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Anderson-Newns モデル: 金属フェルミ電子への電荷移動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00600" y="182880"/>
            <a:ext cx="2057400" cy="393192"/>
          </a:xfrm>
          <a:prstGeom prst="roundRect">
            <a:avLst>
              <a:gd name="adj" fmla="val 23256"/>
            </a:avLst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00600" y="182880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本研究の最重要モデル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949440" y="182880"/>
            <a:ext cx="1737360" cy="393192"/>
          </a:xfrm>
          <a:prstGeom prst="roundRect">
            <a:avLst>
              <a:gd name="adj" fmla="val 23256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182880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— 初回実機検証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4160520" cy="187452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96926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なぜ最重要か — 実アプリケーションとの対応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133502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ε_d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41832" y="133502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官能基 LUMO エネルギー  (例: -COOH の軌道位置)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167335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ε_k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41832" y="167335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CNT フェルミ準位 (基準)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201168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41832" y="201168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CNT ⇔ 官能基 電子移動積分 = 接触コンダクタンスに対応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235000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41832" y="235000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分子軌道電荷占有数 (= 電荷移動量の指標)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52928"/>
          <a:ext cx="393192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1024128"/>
                <a:gridCol w="1051560"/>
                <a:gridCol w="1106424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n_d_IBM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n_d_exact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誤差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0.4066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30352" y="4645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0.84%  |  CNOT = 80  |  ibm_marrakesh</a:t>
            </a:r>
            <a:endParaRPr lang="en-US" sz="11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709160" y="914400"/>
          <a:ext cx="3977640" cy="24871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7"/>
          <p:cNvSpPr/>
          <p:nvPr/>
        </p:nvSpPr>
        <p:spPr>
          <a:xfrm>
            <a:off x="4709160" y="3502152"/>
            <a:ext cx="3977640" cy="1508760"/>
          </a:xfrm>
          <a:prstGeom prst="rect">
            <a:avLst/>
          </a:prstGeom>
          <a:solidFill>
            <a:srgbClr val="E8F8F5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46320" y="357530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主要観測結果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846320" y="385876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V=0.30 で n_d 極小 → V=0.80 で再増大 (非単調応答)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846320" y="413308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n_d ≈ 0.5 (V=0.50) で誤差最小 0.30%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846320" y="440740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全点 n_d_IBM &lt; n_d_exact → T1 散逸の系統的過小評価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846320" y="468172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SB との違い: フォノン → 金属フェルミ電子 (より直接的な電荷移動)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主要な知見: 4 つのハイライト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193852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69848"/>
            <a:ext cx="475488" cy="475488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69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06984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トポロジカル保護の観測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5488" y="1536192"/>
            <a:ext cx="3895344" cy="10973"/>
          </a:xfrm>
          <a:prstGeom prst="rect">
            <a:avLst/>
          </a:prstGeom>
          <a:solidFill>
            <a:srgbClr val="D0DEF0"/>
          </a:solidFill>
          <a:ln w="12700">
            <a:solidFill>
              <a:srgbClr val="D0DE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600200"/>
            <a:ext cx="38953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測定ノイズ 12.7% の下でも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Berry 位相 γ = π を誤差 0% で測定。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保存則に類似したロバスト性を観測。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14800" cy="193852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3168" y="1069848"/>
            <a:ext cx="475488" cy="47548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069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9240" y="106984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非単調 Stark 応答の確認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773168" y="1536192"/>
            <a:ext cx="3895344" cy="10973"/>
          </a:xfrm>
          <a:prstGeom prst="rect">
            <a:avLst/>
          </a:prstGeom>
          <a:solidFill>
            <a:srgbClr val="D0DEF0"/>
          </a:solidFill>
          <a:ln w="12700">
            <a:solidFill>
              <a:srgbClr val="D0DE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600200"/>
            <a:ext cx="38953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最適駆動強度 ε_opt ≈ 2Δ で応答が極大。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デバイス設計への応用が期待される知見。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共振現象と類似: 固有周波数での増幅。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4114800" cy="193852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3127248"/>
            <a:ext cx="475488" cy="47548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127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12724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CNT 臨界径 d_c ≈ 1.2 nm の予測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75488" y="3593592"/>
            <a:ext cx="3895344" cy="10973"/>
          </a:xfrm>
          <a:prstGeom prst="rect">
            <a:avLst/>
          </a:prstGeom>
          <a:solidFill>
            <a:srgbClr val="D0DEF0"/>
          </a:solidFill>
          <a:ln w="12700">
            <a:solidFill>
              <a:srgbClr val="D0DE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657600"/>
            <a:ext cx="38953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&lt; 1.2 nm: 非断熱補正が重要となる可能性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&gt; 1.2 nm: 古典遷移状態理論が近似適用可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(α ∝ d² の仮定下, 実験検証が必要)。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63440" y="3017520"/>
            <a:ext cx="4114800" cy="193852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73168" y="3127248"/>
            <a:ext cx="475488" cy="4754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3127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49240" y="312724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NISQ での高精度を確認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773168" y="3593592"/>
            <a:ext cx="3895344" cy="10973"/>
          </a:xfrm>
          <a:prstGeom prst="rect">
            <a:avLst/>
          </a:prstGeom>
          <a:solidFill>
            <a:srgbClr val="D0DEF0"/>
          </a:solidFill>
          <a:ln w="12700">
            <a:solidFill>
              <a:srgbClr val="D0DE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3657600"/>
            <a:ext cx="38953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CNOT = 80 (高コスト) でも MAE=0.84%。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 7 モデルで MAE &lt; 2.1% を達成。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工学的誤差水準に近い精度を確認。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CNT 径依存性: スケーリング則に基づく臨界径の予測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3931920" cy="205740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875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スケーリング則 (変形ポテンシャル近似)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0352" y="1371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ω_RBM ∝ 1/d　(実測: ω ≈ 248/d cm⁻¹)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≈ 一定 (変形ポテンシャル近似, ※g の径依存は無視)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α = 2g²/ω² ∝ d²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2350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g の径依存性が有意な場合 d_c は大きく変化 — 実験・ab initio との比較で要検証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914400"/>
          <a:ext cx="425196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868680"/>
                <a:gridCol w="96012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(nm)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(推定)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反応機構 (推定)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(4,4)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量子トンネル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(5,5)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コヒーレント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(8,8)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コヒーレント境界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(10,10)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局在化相と推定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(20,20)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古典遷移状態理論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3090672"/>
            <a:ext cx="8321040" cy="1719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1821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スケーリング則に基づく予測: d_c ≈ 1.2 nm  (α = 0.5, g≈一定近似下)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48640" y="361188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&lt; 1.2 nm (細径): 量子トンネル・非断熱遷移が無視できない可能性  →  非断熱補正の重要性が増す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9593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&gt; 1.2 nm (大径): 古典的速度論が近似的に適用可  →  遷移状態理論・Marcus 理論での推定が可能と見込まれる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43159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(本予測は g ≈ 一定近似に依存。定量的判断には実験・DFT 計算による検証が必要)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全モデル精度比較 (MAE) ― CFD 工学的誤差水準との対比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39496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2587752"/>
            <a:ext cx="5394960" cy="1828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26243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工学的誤差水準 (参考値: 1〜3%, 定義が異なる点に留意)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943600" y="960120"/>
            <a:ext cx="2834640" cy="8229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978408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949440" y="10149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最高精度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949440" y="1325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Stark-SB (中コスト)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1920240"/>
            <a:ext cx="2834640" cy="8229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1938528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949440" y="19751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位相保護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49440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Berry γ (特定系での観測)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0" y="2880360"/>
            <a:ext cx="2834640" cy="8229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2898648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949440" y="29352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モデル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949440" y="3246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最重要モデルで高精度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43600" y="3840480"/>
            <a:ext cx="2834640" cy="8229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0" y="3858768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&lt;2.1%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949440" y="38953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全モデル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49440" y="4206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工学的誤差水準に近い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65760" y="445312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CFD との比較は定義が異なる: 本研究 = 厳密解 (解析解) との誤差。CFD = モデル誤差+格子誤差+実験誤差。直接比較は不可。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括弧内は計算コスト区分。Berry は位相誤差 0% を表示 (測定値 overlap MAE は 12.7%、評価対象が異なる)。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今後の展望 ― 量子シミュレーションの拡張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2651760" cy="3977640"/>
          </a:xfrm>
          <a:prstGeom prst="rect">
            <a:avLst/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2651760" cy="402336"/>
          </a:xfrm>
          <a:prstGeom prst="rect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近接課題 (NISQ)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5488" y="1444752"/>
            <a:ext cx="256032" cy="256032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89888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Stark-SB の g × ε 二次元スキャン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臨界 α の外場依存性マップ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" y="2615184"/>
            <a:ext cx="256032" cy="256032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603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時間依存 Stark (AC シュタルク)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周波数応答の解析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" y="3785616"/>
            <a:ext cx="256032" cy="256032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730752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Anderson-Newns ε_d スキャン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官能基 LUMO エネルギー依存性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46120" y="914400"/>
            <a:ext cx="2651760" cy="39776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914400"/>
            <a:ext cx="2651760" cy="40233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9144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中期課題 (2〜4 qubit)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355848" y="1444752"/>
            <a:ext cx="256032" cy="25603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1389888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多モード JT (E×b) — 3 qubit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より現実的な円錐交差モデル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55848" y="2615184"/>
            <a:ext cx="256032" cy="25603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25603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Anderson-Newns 多軌道版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より詳細な金属電子海の模擬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55848" y="3785616"/>
            <a:ext cx="256032" cy="25603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3730752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速度定数の量子シミュレーション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電子移動速度定数の定量評価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26480" y="914400"/>
            <a:ext cx="2651760" cy="3977640"/>
          </a:xfrm>
          <a:prstGeom prst="rect">
            <a:avLst/>
          </a:prstGeom>
          <a:solidFill>
            <a:srgbClr val="FFF8E5"/>
          </a:solidFill>
          <a:ln w="12700">
            <a:solidFill>
              <a:srgbClr val="FFF8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914400"/>
            <a:ext cx="2651760" cy="40233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9144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FT-QC への接続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36208" y="1444752"/>
            <a:ext cx="256032" cy="25603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1389888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 et al. (Xanadu, 2025)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一般化 AN: 196 論理 qubit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(現行 NISQ では未到達)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36208" y="2615184"/>
            <a:ext cx="256032" cy="25603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25603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核自由度付きフル GAN: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フォノン + フェルミオン同時シミュレーション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36208" y="3785616"/>
            <a:ext cx="256032" cy="25603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3730752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Quantum (2027+) での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誤り訂正実装へのロードマップ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3291840" cy="3291840"/>
          </a:xfrm>
          <a:prstGeom prst="ellipse">
            <a:avLst/>
          </a:prstGeom>
          <a:solidFill>
            <a:srgbClr val="17C3B2">
              <a:alpha val="17000"/>
            </a:srgbClr>
          </a:solidFill>
          <a:ln w="12700">
            <a:solidFill>
              <a:srgbClr val="17C3B2">
                <a:alpha val="1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3200400"/>
            <a:ext cx="2011680" cy="2011680"/>
          </a:xfrm>
          <a:prstGeom prst="ellipse">
            <a:avLst/>
          </a:prstGeom>
          <a:solidFill>
            <a:srgbClr val="17C3B2">
              <a:alpha val="28000"/>
            </a:srgbClr>
          </a:solidFill>
          <a:ln w="12700">
            <a:solidFill>
              <a:srgbClr val="17C3B2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3840480"/>
            <a:ext cx="1828800" cy="1828800"/>
          </a:xfrm>
          <a:prstGeom prst="ellipse">
            <a:avLst/>
          </a:prstGeom>
          <a:solidFill>
            <a:srgbClr val="17C3B2">
              <a:alpha val="15000"/>
            </a:srgbClr>
          </a:solidFill>
          <a:ln w="12700">
            <a:solidFill>
              <a:srgbClr val="17C3B2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30352" cy="530352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069848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モデルを IBM Heron r2 実機で検証し、すべてで MAE &lt; 2.1% を達成。CFD で許容される工学的誤差水準に近い精度を確認した (比較定義に注意: 本研究は厳密解との誤差)。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530352" cy="530352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86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304288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つの主要知見: Berry 位相のトポロジカル保護を観測 (誤差 0%) / Stark 応答の非単調性を確認 (ε_opt ≈ 2Δ を示唆) / スケーリング則から CNT 臨界径 d_c ≈ 1.2 nm を予測 (実験検証が必要)。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530352" cy="530352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20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538728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Anderson-Newns モデル (金属フェルミ電子への直接電荷移動) を NISQ で初めて実機検証し、MAE=0.84% を確認。フォノン (SB) とフェルミオン (AN) の両チャネルを個別評価する枠組みを示した。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C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量子シミュレーションは CFD の補完ツール: 量子多体・非断熱効果の定量評価 → CFD の反応速度論モデルへの入力として活用することを目指す。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2026-07-24T01:22:40Z</dcterms:created>
  <dcterms:modified xsi:type="dcterms:W3CDTF">2026-07-24T01:22:40Z</dcterms:modified>
</cp:coreProperties>
</file>