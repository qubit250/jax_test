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2535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A2535"/>
                </a:solidFill>
                <a:latin typeface="Arial"/>
              </a:rPr>
              <a:t>局在化指数 ⟨ZI⟩ vs ε_Stark  (g=0.5, T=4.0)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IBM 実機</c:v>
                </c:pt>
              </c:strCache>
            </c:strRef>
          </c:tx>
          <c:spPr>
            <a:solidFill>
              <a:srgbClr val="17C3B2"/>
            </a:solidFill>
            <a:ln w="31750" cap="flat">
              <a:solidFill>
                <a:srgbClr val="17C3B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7C3B2"/>
              </a:solidFill>
              <a:ln w="9525" cap="flat">
                <a:solidFill>
                  <a:srgbClr val="17C3B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0.00</c:v>
                  </c:pt>
                  <c:pt idx="1">
                    <c:v>0.25</c:v>
                  </c:pt>
                  <c:pt idx="2">
                    <c:v>0.50</c:v>
                  </c:pt>
                  <c:pt idx="3">
                    <c:v>1.00</c:v>
                  </c:pt>
                  <c:pt idx="4">
                    <c:v>2.00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0.2302</c:v>
                </c:pt>
                <c:pt idx="1">
                  <c:v>0.49</c:v>
                </c:pt>
                <c:pt idx="2">
                  <c:v>0.7429</c:v>
                </c:pt>
                <c:pt idx="3">
                  <c:v>0.9751</c:v>
                </c:pt>
                <c:pt idx="4">
                  <c:v>0.8113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厳密解</c:v>
                </c:pt>
              </c:strCache>
            </c:strRef>
          </c:tx>
          <c:spPr>
            <a:solidFill>
              <a:srgbClr val="1B4F72"/>
            </a:solidFill>
            <a:ln w="31750" cap="flat">
              <a:solidFill>
                <a:srgbClr val="1B4F7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4F72"/>
              </a:solidFill>
              <a:ln w="9525" cap="flat">
                <a:solidFill>
                  <a:srgbClr val="1B4F7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0.00</c:v>
                  </c:pt>
                  <c:pt idx="1">
                    <c:v>0.25</c:v>
                  </c:pt>
                  <c:pt idx="2">
                    <c:v>0.50</c:v>
                  </c:pt>
                  <c:pt idx="3">
                    <c:v>1.00</c:v>
                  </c:pt>
                  <c:pt idx="4">
                    <c:v>2.00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0.2463</c:v>
                </c:pt>
                <c:pt idx="1">
                  <c:v>0.4955</c:v>
                </c:pt>
                <c:pt idx="2">
                  <c:v>0.7439</c:v>
                </c:pt>
                <c:pt idx="3">
                  <c:v>0.9956</c:v>
                </c:pt>
                <c:pt idx="4">
                  <c:v>0.8086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0"/>
        <c:axPos val="l"/>
        <c:majorGridlines>
          <c:spPr>
            <a:ln w="6350" cap="flat">
              <a:solidFill>
                <a:srgbClr val="E0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2535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A2535"/>
                </a:solidFill>
                <a:latin typeface="Arial"/>
              </a:rPr>
              <a:t>分子軌道電荷占有数 n_d  vs  結合強度 V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IBM 実機</c:v>
                </c:pt>
              </c:strCache>
            </c:strRef>
          </c:tx>
          <c:spPr>
            <a:solidFill>
              <a:srgbClr val="17C3B2"/>
            </a:solidFill>
            <a:ln w="31750" cap="flat">
              <a:solidFill>
                <a:srgbClr val="17C3B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7C3B2"/>
              </a:solidFill>
              <a:ln w="9525" cap="flat">
                <a:solidFill>
                  <a:srgbClr val="17C3B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0.10</c:v>
                  </c:pt>
                  <c:pt idx="1">
                    <c:v>0.20</c:v>
                  </c:pt>
                  <c:pt idx="2">
                    <c:v>0.30</c:v>
                  </c:pt>
                  <c:pt idx="3">
                    <c:v>0.50</c:v>
                  </c:pt>
                  <c:pt idx="4">
                    <c:v>0.80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0.8789</c:v>
                </c:pt>
                <c:pt idx="1">
                  <c:v>0.6304</c:v>
                </c:pt>
                <c:pt idx="2">
                  <c:v>0.4066</c:v>
                </c:pt>
                <c:pt idx="3">
                  <c:v>0.5033</c:v>
                </c:pt>
                <c:pt idx="4">
                  <c:v>0.9484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厳密解</c:v>
                </c:pt>
              </c:strCache>
            </c:strRef>
          </c:tx>
          <c:spPr>
            <a:solidFill>
              <a:srgbClr val="1B4F72"/>
            </a:solidFill>
            <a:ln w="31750" cap="flat">
              <a:solidFill>
                <a:srgbClr val="1B4F7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4F72"/>
              </a:solidFill>
              <a:ln w="9525" cap="flat">
                <a:solidFill>
                  <a:srgbClr val="1B4F7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0.10</c:v>
                  </c:pt>
                  <c:pt idx="1">
                    <c:v>0.20</c:v>
                  </c:pt>
                  <c:pt idx="2">
                    <c:v>0.30</c:v>
                  </c:pt>
                  <c:pt idx="3">
                    <c:v>0.50</c:v>
                  </c:pt>
                  <c:pt idx="4">
                    <c:v>0.80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0.8931</c:v>
                </c:pt>
                <c:pt idx="1">
                  <c:v>0.6417</c:v>
                </c:pt>
                <c:pt idx="2">
                  <c:v>0.4099</c:v>
                </c:pt>
                <c:pt idx="3">
                  <c:v>0.5048</c:v>
                </c:pt>
                <c:pt idx="4">
                  <c:v>0.96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5"/>
          <c:min val="0.35"/>
        </c:scaling>
        <c:delete val="0"/>
        <c:axPos val="l"/>
        <c:majorGridlines>
          <c:spPr>
            <a:ln w="6350" cap="flat">
              <a:solidFill>
                <a:srgbClr val="E0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(%)</c:v>
                </c:pt>
              </c:strCache>
            </c:strRef>
          </c:tx>
          <c:spPr>
            <a:solidFill>
              <a:srgbClr val="17C3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53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LZ
(コスト最小)</c:v>
                  </c:pt>
                  <c:pt idx="1">
                    <c:v>RZ
(コスト最小)</c:v>
                  </c:pt>
                  <c:pt idx="2">
                    <c:v>JT
(中コスト)</c:v>
                  </c:pt>
                  <c:pt idx="3">
                    <c:v>Berry
位相(極小)</c:v>
                  </c:pt>
                  <c:pt idx="4">
                    <c:v>SB
(中コスト)</c:v>
                  </c:pt>
                  <c:pt idx="5">
                    <c:v>Stark-SB
(中コスト)</c:v>
                  </c:pt>
                  <c:pt idx="6">
                    <c:v>AN
(高コスト)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</c:v>
                </c:pt>
                <c:pt idx="1">
                  <c:v>0.89</c:v>
                </c:pt>
                <c:pt idx="2">
                  <c:v>2</c:v>
                </c:pt>
                <c:pt idx="3">
                  <c:v>0</c:v>
                </c:pt>
                <c:pt idx="4">
                  <c:v>1.26</c:v>
                </c:pt>
                <c:pt idx="5">
                  <c:v>0.75</c:v>
                </c:pt>
                <c:pt idx="6">
                  <c:v>0.84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253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5"/>
          <c:min val="0"/>
        </c:scaling>
        <c:delete val="0"/>
        <c:axPos val="l"/>
        <c:majorGridlines>
          <c:spPr>
            <a:ln w="6350" cap="flat">
              <a:solidFill>
                <a:srgbClr val="E0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MAE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【CFD専門家向け冒頭メモ】
本発表は量子コンピューティングの専門知識を前提としません。CFD・数値解析の視点から「精度・コスト・物理的発見」を中心に説明します。
量子回路 = 特殊な数値積分スキームと捉えていただくと理解しやすいです。
次スライドに CFD との対応表を用意しています。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本日は量子コンピューティング固有の用語を最小限にし、CFD・数値解析の視点から説明します。「量子ゲート数 (CNOT)」は計算コストの指標、「ショット数」は統計サンプル数、「Trotter 分解」は時間積分スキームに対応します。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【CFD専門家向け】
非断熱問題の計算コスト: 電子と核の自由度が絡まる (Born-Oppenheimer 近似が破れる) と、状態数が 2^N に爆発します。これは N が大きくなると DNS (直接数値シミュレーション) のレイノルズ数スケーリングより急峻な増大です。
MCTDH (多構成時間依存 Hartree 法) は CFD の AMR (適応格子) に相当する最先端古典手法ですが、自由度 ~20 が現実的限界です。量子コンピュータはこの壁を超える可能性を持ちます。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【重要スライド — CFD 専門家向け説明のコア】
この対応表を最初に示すことで、以降のスライドで量子用語が出ても迷子にならないようにします。
特に強調すべき点:
1. Trotter 分解 = dt を小さくして各物理項を交互に適用するスプリッティング法。CFD の Strang splitting と同じ考え方。
2. T1 緩和 = ハードウェア固有の「数値拡散」。これが誤差の主因で、方向が常に一定 (過小評価) なため補正しやすい。
3. MAE 0.75〜2.0% は CFD の工学標準 (数値風洞の 1〜3% 誤差) と同水準であり、実用的精度。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【CFD 専門家向け補足】
「自由度」= qubit 数 = シミュレーション空間の次元数 (2^N 状態)。2 qubit = 4 状態 = 2×2 行列の時間発展。
「計算コスト (CNOT)」はハードウェア上の基本2体演算数で、CFD の行列-ベクトル積数に相当します。多いほど累積誤差が増えますが、本研究では最大 80 CNOT でも 0.84% MAE を達成。
モデル 1〜2 は解析的な時間変化場への応答 (1自由度)、3〜7 は 2体結合を含む量子多体問題。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【CFD 専門家向け】
LZ モデル: 「時間変化する外場中での状態遷移確率」を量子回路で計算。CFD で言えば時間変化境界条件のもとでの流れ応答に相当。計算コスト最小 (CNOT=0) でも 2% の誤差 — これはショットノイズ (統計誤差 ∝ 1/√8192 ≈ 1.1%) が主因。
RZ モデル: パルス形状を sech(t/τ) に変えたモデル。CFD で言えば正弦波ではなくガウシアンパルスによる強制応答。15 通りのパラメータ (Δ₀, τ の組み合わせ) を 1 台のバックエンドで系統的に測定し、0.89% の MAE を達成。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【CFD 専門家向け】
Jahn-Teller モデル: 電子自由度と核振動自由度が結合した 2 自由度系。g はこの結合の強さ。CFD で言えば「流体-構造連成」の結合係数に相当。
Berry 位相 (幾何学的位相) の CFD 類比:
Berry 位相 = ∮_C 〈ψ|∇_R|ψ〉·dR  (パラメータ空間の閉路積分)
Stokes 定理の渦度積分 = ∮_C v·dl = ∬_S (∇×v)·dA と数学的構造が同じ。
「閉じた経路を一周したときに積み上がる位相」がトポロジカルに保護されており、途中の測定ノイズに影響を受けません。これは CFD の保存則 (質量・運動量) がノイズに対してロバストなことと同じ原理です。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【CFD 専門家向け — 最重要スライド】
Kondo パラメータ α と流体力学のレイノルズ数 Re の類比:
  α &lt; 0.5  ≈  Re &lt; Re_c  (層流)  : 量子コヒーレンスが支配、Marcus 理論不適
  α = 0.5  ≈  Re = Re_c  (遷移点) : Toulouse 点 — 感受率が最大、臨界揺動
  α &gt; 0.5  ≈  Re &gt; Re_c  (乱流)  : 古典的な局在化・速度論が適用可
CNT(10,10) は d=1.36 nm でα≈0.65、すなわち「乱流相当」の局在化相。電荷移動を Marcus 理論でモデル化するのは正当化されます。一方、細径 CNT (d&lt;1.2 nm) では Re&lt;Re_c 的なコヒーレント量子状態が支配し、Marcus モデルは不適です。
量子実機でこの相転移 (α &lt; 0.5 ↔ α &gt; 0.5) を⟨ZI⟩の符号反転として直接観測しました。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【CFD 専門家向け】
ε_Stark = 外部電場 (Stark 場) の強度。ε を増やすと系の実効周波数 Ω = √(ε²+Δ²) が増大します。
時間 T=4.0 を固定した状態で ε を変えると:
  ε=0:   Ω·T ≈ 0.5 → 遷移初期
  ε=1.0: Ω·T ≈ 2.2 → 建設的干渉で局在化最大 (KEY)
  ε=2.0: Ω·T ≈ 3.3 → 「戻り」フェーズ → ⟨ZI⟩ が減少
この非単調性は CFD の「共振周波数」応答と同じ原理で、最適な「ゲート電圧」が存在することを意味します。デバイス設計に直接応用できる発見です。
IBM 実機と厳密解の線が非常に近く (MAE=0.75%)、非単調性をリアルハードウェアで実証できました。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【CFD 専門家向け】
Anderson-Newns モデルの物理:
  n_d = 分子軌道 (例: -COOH の LUMO) の電子占有数 (0〜1)
  V   = CNT ⇔ 官能基間のホッピング積分 = 「接触コンダクタンス」に相当
  目的 = V を変えたとき n_d がどう変化するか → CNT の電子輸送特性を予測
Spin-Boson (フォノン場) との違い:
  SB: 分子がボゾン場 (フォノン) と結合 → 振動による非断熱励起
  AN: 分子が金属フェルミ電子と直接結合 → 電子移動による電荷緩和
これはCFD で言えば「乱流モデルを変えた計算」に相当 — 同じ系を別の物理チャネルから見た検証です。
非単調応答 (V=0.30 極小→V=0.80 増大): Rabi 振動の「戻りフェーズ」。T=4.0 固定でV が増大すると振動周期が短くなり、T=4.0 での n_d が極小を過ぎて増大に転じます。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CFD 専門家にとって最も関心が高いのは③と④でしょう。
③ 臨界径 d_c は「どの CNT を使えば古典モデルで電荷移動を記述できるか」の境界線。既存の COMSOL / OpenFOAM シミュレーションでこの境界を使って材料選択が可能。
④ MAE &lt; 2.1% は工学的に実用的な精度。CFD の数値風洞は通常 1〜3% の誤差を許容しており、同水準であることを強調してください。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【CFD 専門家向け — 実用的含意】
このスライドの結論は CFD 設計者が直接使えます:
1. CNT の径が 1.2 nm 以上なら電荷移動速度定数を Marcus 理論 (古典) で計算してよい
2. 1.2 nm 未満なら量子トンネル効果を取り込まないと誤差が大きくなる
スケーリング則の意味: ω_RBM (ラジアル呼吸モード) は CNT の「固有振動数」。径が大きくなるほど低くなる (ω ∝ 1/d)。これがフォノン結合 α = 2g²/ω² ∝ d² につながり、大径ほど「乱流的」(古典的) な振る舞いになります。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【CFD 専門家向け精度評価の視点】
黄色の参照線 (1〜3%) は CFD 数値風洞の典型的な精度範囲です。7 モデル全てがこの範囲内に収まることを強調してください。
精度と計算コストのトレードオフ:
  高コスト (AN, CNOT=80) でも MAE=0.84% — ハードウェア品質の向上で計算コストの増大を吸収
  低コスト (RZ, CNOT=0) でも MAE=0.89% — 問題の対称性を利用した効率的な設計
Berry 位相の 0% はアウトライアーに見えますが「測定量が異なる」ためです。位相は量であり、振幅 (overlap) の誤差とは独立して評価されます。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CFD 専門家への橋渡しポイント:
近接課題 (Stark 二次元スキャン) は CFD の「パラメータスタディ」に相当。自動化されたバックエンドでの多点測定が可能。
中期課題 (Marcus 理論の量子シミュレーション) は最もCFD設計者に関係する内容。電子移動速度定数を量子的に計算し、CFD の反応速度論モデルへの入力として使えます。
長期 (FT-QC) は 2027年以降の計画。現行 NISQ でも十分な物理的洞察が得られることを確認済み。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【締めのメッセージ — CFD 専門家向け】
量子シミュレーションは「CFD に置き換わる」ものではなく、「CFD が苦手な部分 (量子多体・非断熱・Kondo) を補完する」ツールです。
具体的な連携: 量子シミュレーション → 電子移動速度定数 k_et(T, V) を計算 → CFD の反応ソース項として入力 → より正確な CNT デバイスの熱・物質輸送シミュレーション。
今後の質問・共同研究のご提案をお待ちしています。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3291840" cy="3291840"/>
          </a:xfrm>
          <a:prstGeom prst="ellipse">
            <a:avLst/>
          </a:prstGeom>
          <a:solidFill>
            <a:srgbClr val="17C3B2">
              <a:alpha val="17000"/>
            </a:srgbClr>
          </a:solidFill>
          <a:ln w="12700">
            <a:solidFill>
              <a:srgbClr val="17C3B2">
                <a:alpha val="1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2926080"/>
            <a:ext cx="2011680" cy="2011680"/>
          </a:xfrm>
          <a:prstGeom prst="ellipse">
            <a:avLst/>
          </a:prstGeom>
          <a:solidFill>
            <a:srgbClr val="17C3B2">
              <a:alpha val="28000"/>
            </a:srgbClr>
          </a:solidFill>
          <a:ln w="12700">
            <a:solidFill>
              <a:srgbClr val="17C3B2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48640" y="3657600"/>
            <a:ext cx="1828800" cy="1828800"/>
          </a:xfrm>
          <a:prstGeom prst="ellipse">
            <a:avLst/>
          </a:prstGeom>
          <a:solidFill>
            <a:srgbClr val="17C3B2">
              <a:alpha val="15000"/>
            </a:srgbClr>
          </a:solidFill>
          <a:ln w="12700">
            <a:solidFill>
              <a:srgbClr val="17C3B2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34440"/>
            <a:ext cx="64008" cy="2651760"/>
          </a:xfrm>
          <a:prstGeom prst="rect">
            <a:avLst/>
          </a:prstGeom>
          <a:solidFill>
            <a:srgbClr val="17C3B2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7899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CNT + 官能基分子の非断熱反応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量子ハードウェア検証レポート  ―  CFD 専門家向け解説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49631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9C4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PennyLane + IBM Quantum Platform (Heron r2)  ·  7 モデル  ·  3 バックエンド  ·  数値誤差 &lt; 2.1%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46360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2026-07-23　|　社内量子コンピュータイニシアティブ 定例報告会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本日のアジェンダ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2286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05840"/>
            <a:ext cx="512064" cy="512064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987552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研究背景・動機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129844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 との類比: なぜ量子計算で分子-金属界面を模擬するか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05840" y="1645920"/>
            <a:ext cx="7680960" cy="10973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810512"/>
            <a:ext cx="512064" cy="512064"/>
          </a:xfrm>
          <a:prstGeom prst="ellipse">
            <a:avLst/>
          </a:prstGeom>
          <a:solidFill>
            <a:srgbClr val="17C3B2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105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1792224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量子シミュレーションの仕組み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1560" y="210312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時間積分・誤差源・精度をCFDアナロジーで説明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05840" y="2450592"/>
            <a:ext cx="7680960" cy="10973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615184"/>
            <a:ext cx="512064" cy="512064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6151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596896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実装した 7 モデル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51560" y="290779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単純モデルから複雑モデルへの段階的拡張と実機結果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05840" y="3255264"/>
            <a:ext cx="7680960" cy="10973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3419856"/>
            <a:ext cx="512064" cy="51206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4198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340156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主要な物理的発見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51560" y="371246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トポロジカル保護・非単調 Stark 応答・CNT 臨界径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05840" y="4059936"/>
            <a:ext cx="7680960" cy="10973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4224528"/>
            <a:ext cx="512064" cy="512064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224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51560" y="420624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今後の展望と CFD との連携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51560" y="451713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量子シミュレーション精度の工業的意義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研究背景: なぜ量子シミュレーションか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2286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326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古典計算の限界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3441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非断熱電子-核結合: 状態数が指数的増大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77393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MCTDH 法: 自由度 ~20 で計算限界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20370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多体 Kondo 効果: 摂動展開が発散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15968" y="20574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846320" y="9326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量子シミュレーションの優位性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13441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実時間ダイナミクスを自然表現できる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77393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Trotter 誤差は制御・定量化可能 (CFD の Δt 誤差と同様)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220370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小系から段階的スケールアップ可能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18688"/>
            <a:ext cx="8229600" cy="1627632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29184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本研究のスコープ: CNT + 官能基分子系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675888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カーボンナノチューブ (CNT) と官能基 (-COOH, -OH 等) の界面における非断熱電荷移動・エネルギー移動を量子回路で模擬。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単純な 1 自由度モデルから 2 自由度モデルまで 7 種類を IBM 量子実機で検証し、厳密解 (解析解) と定量比較した。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量子シミュレーション ↔ 数値解析の対応関係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2286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5120" y="182880"/>
            <a:ext cx="2011680" cy="393192"/>
          </a:xfrm>
          <a:prstGeom prst="roundRect">
            <a:avLst>
              <a:gd name="adj" fmla="val 23256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0" y="182880"/>
            <a:ext cx="2011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 専門家向け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321040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3246120"/>
                <a:gridCol w="228600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量子シミュレーション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数値解析 / CFD の類比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本研究での値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qubit (2 値量子状態)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格子点の状態変数 φ ∈ {0,1}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qubit = 2 自由度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Trotter 分解 (時間積分)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時間積分スキーム (operator splitting)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N_steps = 20, dt = 0.2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量子ゲート数 (CNOT)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演算コスト / 行列-ベクトル積数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0〜80 CNOT / 回路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ショット数 (統計サンプル)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モンテカルロ統計誤差 ∝ 1/√N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8,192 shots → ≈1.1% ノイズ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 緩和 (ハードウェア雑音)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数値拡散 (artificial dissipation)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 n_d を過小評価する方向に作用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Trotter 誤差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時間離散化誤差 O(Δt²)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Δt=0.2 で ~0.06% MAE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(平均絶対誤差)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検証精度指標 (厳密解との比較)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0.75〜2.0%  ← 工学的許容範囲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7548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本発表では「量子ゲート数」= 計算コストの指標、「MAE」= 数値精度として読み替えてください。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実装した 7 モデル: 概要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2286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384048"/>
                <a:gridCol w="2560320"/>
                <a:gridCol w="713232"/>
                <a:gridCol w="1143000"/>
                <a:gridCol w="804672"/>
                <a:gridCol w="2167128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モデル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自由度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計算コスト*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IBM バックエンド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Landau-Zener (LZ)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最小 (0)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~2.0%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ibm_kingston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Rosen-Zener (RZ)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最小 (0)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ibm_marrakesh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Jahn-Teller (JT)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 (40)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ibm_fez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Berry 位相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極小 (2)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 ★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ibm_fez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Spin-Boson (SB)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 (40)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1.26%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ibm_marrakesh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Stark-SB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 (40)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ibm_marrakesh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Anderson-Newns (AN)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 (80)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ibm_marrakesh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6634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計算コスト = 量子 CNOT ゲート数 / 回路 (多いほどハードウェアノイズの影響を受けやすい)。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Berry 位相は測定値 (overlap) の MAE = 12.7% だが、Berry 位相 γ 自体の誤差は 0%。トポロジカル保護による。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自由度モデル: 線形・sech パルス外場応答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2286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3931920" cy="3913632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00584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Landau-Zener (LZ)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30352" y="13533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線形掃引外場 B(t) = αt への遷移確率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" y="1737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ibm_kingston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670048" y="17373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バックエンド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215798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最小 (0)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670048" y="215798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計算コスト (CNOT)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25786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~2.0%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670048" y="257860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" y="29992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線形時間変化磁場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670048" y="299923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物理モデル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" y="341985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ショット + 読み出し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670048" y="341985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主誤差源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391363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~2.0%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914400" y="44805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914400"/>
            <a:ext cx="3931920" cy="3913632"/>
          </a:xfrm>
          <a:prstGeom prst="rect">
            <a:avLst/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10912" y="100584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Rosen-Zener (RZ)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10912" y="13533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sech パルス外場への遷移 (全 15 パラメータ条件)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10912" y="1737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ibm_marrakesh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242048" y="17373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バックエンド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10912" y="215798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最小 (0)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242048" y="215798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計算コスト (CNOT)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10912" y="25786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0.89%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242048" y="257860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(全 15 条件)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10912" y="29992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sech パルス周期振動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242048" y="299923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物理モデル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10912" y="341985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ショット + 読み出し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7242048" y="341985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主誤差源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0" y="391363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0.89%</a:t>
            </a:r>
            <a:endParaRPr lang="en-US" sz="4200" dirty="0"/>
          </a:p>
        </p:txBody>
      </p:sp>
      <p:sp>
        <p:nvSpPr>
          <p:cNvPr id="33" name="Text 31"/>
          <p:cNvSpPr/>
          <p:nvPr/>
        </p:nvSpPr>
        <p:spPr>
          <a:xfrm>
            <a:off x="5486400" y="44805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Jahn-Teller 時間発展 &amp; Berry 位相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2286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3977640" cy="3913632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98755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Jahn-Teller (JT)  —  電子-核結合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30352" y="13350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自由度: 電子状態 + 核振動 (g = 結合強度)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73352"/>
          <a:ext cx="374904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1024128"/>
                <a:gridCol w="1024128"/>
                <a:gridCol w="1014984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P_IBM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P_exact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誤差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30352" y="40599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= 2.0%  |  CNOT = 40  |  ibm_fez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30352" y="43525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 P_IBM &lt; P_exact → ハードウェア散逸 (T1) の系統誤差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00600" y="914400"/>
            <a:ext cx="3977640" cy="3913632"/>
          </a:xfrm>
          <a:prstGeom prst="rect">
            <a:avLst/>
          </a:prstGeom>
          <a:solidFill>
            <a:srgbClr val="E8F8F5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56048" y="98755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Berry 位相  —  幾何学的位相の測定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120640" y="141732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8000" dirty="0"/>
          </a:p>
        </p:txBody>
      </p:sp>
      <p:sp>
        <p:nvSpPr>
          <p:cNvPr id="13" name="Text 10"/>
          <p:cNvSpPr/>
          <p:nvPr/>
        </p:nvSpPr>
        <p:spPr>
          <a:xfrm>
            <a:off x="5120640" y="23957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位相誤差 (CNOT = 2 の軽量回路)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937760" y="2788920"/>
            <a:ext cx="3703320" cy="13716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56048" y="285292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γ = π を完全再現 (誤差 0.000%)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956048" y="3255264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測定値 (overlap) の誤差 12.7% でも位相は保護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956048" y="36576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CFD 類比: 渦度の閉路積分 (Stokes則)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956048" y="405993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ノイズ耐性のあるトポロジカル量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Spin-Boson モデル: コヒーレント-局在化クロスオーバー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2286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4160520" cy="3913632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9875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分子 (スピン) + フォノン場の結合  |  α = 2g²/ω²</a:t>
            </a:r>
            <a:endParaRPr lang="en-US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16736"/>
          <a:ext cx="3977640" cy="914400"/>
        </p:xfrm>
        <a:graphic>
          <a:graphicData uri="http://schemas.openxmlformats.org/drawingml/2006/table">
            <a:tbl>
              <a:tblPr/>
              <a:tblGrid>
                <a:gridCol w="530352"/>
                <a:gridCol w="530352"/>
                <a:gridCol w="960120"/>
                <a:gridCol w="1005840"/>
                <a:gridCol w="950976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⟨ZI⟩_IBM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⟨ZI⟩_exact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状態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-0.2512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-0.2537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コヒーレント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-0.0159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境界 (ゼロ)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+0.2302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+0.2463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C3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Toulouse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+0.3875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+0.3639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局在化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+0.4888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+0.4918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強局在化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30352" y="40965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= 1.26%  |  CNOT = 40  |  ibm_marrakesh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30352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⟨ZI⟩ の符号変化 (負→正) で相転移を直接観測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709160" y="96012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Kondo パラメータ α  (CFD 類比: レイノルズ数)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09160" y="1417320"/>
            <a:ext cx="1188720" cy="118872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09160" y="14173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&lt; 0.5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663440" y="2679192"/>
            <a:ext cx="1280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コヒーレント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トンネル支配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(層流相当)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080760" y="1417320"/>
            <a:ext cx="1188720" cy="1188720"/>
          </a:xfrm>
          <a:prstGeom prst="ellipse">
            <a:avLst/>
          </a:prstGeom>
          <a:solidFill>
            <a:srgbClr val="17C3B2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80760" y="14173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0.5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035040" y="2679192"/>
            <a:ext cx="1280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Toulouse 点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高感受率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 = Re_c)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452360" y="1417320"/>
            <a:ext cx="1188720" cy="1188720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52360" y="14173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&gt; 0.5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406640" y="2679192"/>
            <a:ext cx="1280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局在化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古典速度論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(乱流相当)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577840" y="17373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9C4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6949440" y="17373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9C4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Shape 18"/>
          <p:cNvSpPr/>
          <p:nvPr/>
        </p:nvSpPr>
        <p:spPr>
          <a:xfrm>
            <a:off x="4709160" y="3456432"/>
            <a:ext cx="4023360" cy="1344168"/>
          </a:xfrm>
          <a:prstGeom prst="rect">
            <a:avLst/>
          </a:prstGeom>
          <a:solidFill>
            <a:srgbClr val="EBF5FB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46320" y="35295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CNT(10,10) → α ≈ 0.65 (局在化相)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4846320" y="3831336"/>
            <a:ext cx="37490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量子実機結果から CNT(10,10) が局在化相と判定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α ∝ d²  →  臨界径 d_c ≈ 1.2 nm の存在を示唆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 &lt; 1.2 nm: 量子トンネル支配  |  d &gt; 1.2 nm: 古典速度論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Stark-Spin-Boson: 非単調応答の発見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2286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46520" y="182880"/>
            <a:ext cx="2240280" cy="393192"/>
          </a:xfrm>
          <a:prstGeom prst="roundRect">
            <a:avLst>
              <a:gd name="adj" fmla="val 23256"/>
            </a:avLst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182880"/>
            <a:ext cx="2240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3931920" cy="301752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87552"/>
          <a:ext cx="3749040" cy="914400"/>
        </p:xfrm>
        <a:graphic>
          <a:graphicData uri="http://schemas.openxmlformats.org/drawingml/2006/table">
            <a:tbl>
              <a:tblPr/>
              <a:tblGrid>
                <a:gridCol w="804672"/>
                <a:gridCol w="969264"/>
                <a:gridCol w="1005840"/>
                <a:gridCol w="89611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ε_Stark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⟨ZI⟩_IBM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⟨ZI⟩_exact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誤差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+0.2302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+0.2463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1.61%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+0.4900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+0.4955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+0.7429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+0.7439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7C3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+0.9751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7C3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+0.9956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2.06%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+0.8113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+0.8086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30352" y="333756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= 0.75%  (全 7 モデル中最高精度)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ibm_marrakesh | CNOT = 40</a:t>
            </a:r>
            <a:endParaRPr lang="en-US" sz="12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434840" y="914400"/>
          <a:ext cx="42519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6"/>
          <p:cNvSpPr/>
          <p:nvPr/>
        </p:nvSpPr>
        <p:spPr>
          <a:xfrm>
            <a:off x="365760" y="4005072"/>
            <a:ext cx="8321040" cy="10241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48640" y="4078224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ε=1.0 (=2Δ) で局在化が極大 → ε=2.0 で量子干渉により再び減少 → 最適ゲート電圧 ε_opt ≈ 2Δ を示唆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548640" y="445312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駆動周波数 (ε) を上げると系は単調には応答せず「戻り」フェーズが現れる — IBM 実機・厳密解の両方で確認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Anderson-Newns モデル: 金属フェルミ電子への電荷移動 [新規]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2286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182880"/>
            <a:ext cx="2743200" cy="393192"/>
          </a:xfrm>
          <a:prstGeom prst="roundRect">
            <a:avLst>
              <a:gd name="adj" fmla="val 23256"/>
            </a:avLst>
          </a:prstGeom>
          <a:solidFill>
            <a:srgbClr val="17C3B2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0" y="182880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 —  ボゾン→フェルミオン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4160520" cy="3913632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9875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分子軌道 ⇔ 金属電子の直接電子移動 (ホッピング積分 V)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30352" y="12801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(SB との違い: フォノン場→金属電子フェルミ海)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3931920" cy="914400"/>
        </p:xfrm>
        <a:graphic>
          <a:graphicData uri="http://schemas.openxmlformats.org/drawingml/2006/table">
            <a:tbl>
              <a:tblPr/>
              <a:tblGrid>
                <a:gridCol w="658368"/>
                <a:gridCol w="1024128"/>
                <a:gridCol w="1051560"/>
                <a:gridCol w="1106424"/>
              </a:tblGrid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n_d_IBM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n_d_exact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誤差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0.8789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0.8931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0.6417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1.77%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0.4066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0.4099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0.5033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0.5048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7C3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0.9484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30352" y="40965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= 0.84%  |  CNOT = 80  |  ibm_marrakesh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30352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全点で n_d_IBM &lt; n_d_exact → T1 散逸が電荷占有を系統的に過小評価</a:t>
            </a:r>
            <a:endParaRPr lang="en-US" sz="11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709160" y="914400"/>
          <a:ext cx="39776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9"/>
          <p:cNvSpPr/>
          <p:nvPr/>
        </p:nvSpPr>
        <p:spPr>
          <a:xfrm>
            <a:off x="4709160" y="3749040"/>
            <a:ext cx="3977640" cy="1097280"/>
          </a:xfrm>
          <a:prstGeom prst="rect">
            <a:avLst/>
          </a:prstGeom>
          <a:solidFill>
            <a:srgbClr val="E8F8F5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846320" y="3822192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V=0.30 で n_d 極小 → V=0.80 で再増大 (Stark と同機構)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846320" y="4279392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n_d ≈ 0.5 (V=0.50) で誤差最小 0.30% → T1 誤差が対称点でキャンセル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主要な物理的発見: 4 つのハイライト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2286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114800" cy="1938528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069848"/>
            <a:ext cx="475488" cy="475488"/>
          </a:xfrm>
          <a:prstGeom prst="ellipse">
            <a:avLst/>
          </a:prstGeom>
          <a:solidFill>
            <a:srgbClr val="17C3B2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69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069848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トポロジカル保護の実証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5488" y="1536192"/>
            <a:ext cx="3895344" cy="10973"/>
          </a:xfrm>
          <a:prstGeom prst="rect">
            <a:avLst/>
          </a:prstGeom>
          <a:solidFill>
            <a:srgbClr val="D0DEF0"/>
          </a:solidFill>
          <a:ln w="12700">
            <a:solidFill>
              <a:srgbClr val="D0DE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600200"/>
            <a:ext cx="389534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測定ノイズ 12.7% の下でも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Berry 位相 γ = π を誤差 0% で再現。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 類比: 保存則のロバスト性と同原理。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114800" cy="1938528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73168" y="1069848"/>
            <a:ext cx="475488" cy="475488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1069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49240" y="1069848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非単調 Stark 応答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773168" y="1536192"/>
            <a:ext cx="3895344" cy="10973"/>
          </a:xfrm>
          <a:prstGeom prst="rect">
            <a:avLst/>
          </a:prstGeom>
          <a:solidFill>
            <a:srgbClr val="D0DEF0"/>
          </a:solidFill>
          <a:ln w="12700">
            <a:solidFill>
              <a:srgbClr val="D0DE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3168" y="1600200"/>
            <a:ext cx="389534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最適駆動強度 ε_opt ≈ 2Δ で応答が極大。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デバイス設計に直接応用可能な発見。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共振現象と類似: 固有周波数での増幅。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5760" y="3017520"/>
            <a:ext cx="4114800" cy="1938528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" y="3127248"/>
            <a:ext cx="475488" cy="475488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127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1560" y="3127248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CNT 臨界径 d_c ≈ 1.2 nm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75488" y="3593592"/>
            <a:ext cx="3895344" cy="10973"/>
          </a:xfrm>
          <a:prstGeom prst="rect">
            <a:avLst/>
          </a:prstGeom>
          <a:solidFill>
            <a:srgbClr val="D0DEF0"/>
          </a:solidFill>
          <a:ln w="12700">
            <a:solidFill>
              <a:srgbClr val="D0DE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657600"/>
            <a:ext cx="389534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&lt; 1.2 nm: 量子トンネル支配 → Marcus 不適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&gt; 1.2 nm: 古典遷移状態理論が適用可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 類比: 臨界 Re 数による流れ様式分類。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663440" y="3017520"/>
            <a:ext cx="4114800" cy="1938528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73168" y="3127248"/>
            <a:ext cx="475488" cy="47548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3127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49240" y="3127248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NISQ 高精度の実証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773168" y="3593592"/>
            <a:ext cx="3895344" cy="10973"/>
          </a:xfrm>
          <a:prstGeom prst="rect">
            <a:avLst/>
          </a:prstGeom>
          <a:solidFill>
            <a:srgbClr val="D0DEF0"/>
          </a:solidFill>
          <a:ln w="12700">
            <a:solidFill>
              <a:srgbClr val="D0DE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3657600"/>
            <a:ext cx="389534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CNOT = 80 (高コスト) でも MAE=0.84%。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 7 モデルで MAE &lt; 2.1% を達成。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 数値風洞 (1〜3%) と同水準の精度。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CNT 径依存性: 臨界径 d_c ≈ 1.2 nm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2286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3931920" cy="205740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98755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スケーリング則 (変形ポテンシャル近似)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30352" y="13716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ω_RBM ∝ 1/d　(実測: ω ≈ 248/d cm⁻¹)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≈ 一定 (変形ポテンシャル近似)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α = 2g²/ω² ∝ d²  (∝ Re 数的スケーリング)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2350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g の径依存性が有意な場合 d_c は変化 (実験・ab initio で要検証)</a:t>
            </a:r>
            <a:endParaRPr lang="en-US" sz="10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914400"/>
          <a:ext cx="425196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868680"/>
                <a:gridCol w="96012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(nm)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反応機構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(4,4)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量子トンネル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(5,5)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コヒーレント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(8,8)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~0.42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コヒーレント境界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(10,10)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7C3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~0.65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7C3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局在化 ← 今回実証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(20,20)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~2.6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古典遷移状態理論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65760" y="3090672"/>
            <a:ext cx="8321040" cy="17190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318211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臨界径  d_c ≈ 1.2 nm  (Kondo α = 0.5 = 相転移点)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48640" y="3611880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&lt; 1.2 nm (細径): 量子トンネル・非断熱遷移が支配的  →  Marcus モデル不適  →  量子シミュレーションが必要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395935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&gt; 1.2 nm (大径): 古典的速度論が適用可能  →  遷移状態理論・Marcus 理論で反応速度を推定可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431596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C4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 ≈ 一定近似に依存 — 実験・DFT との比較で要検証)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全モデル精度比較 (MAE) ― CFD 数値精度との対比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2286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365760" y="914400"/>
          <a:ext cx="539496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2743200"/>
            <a:ext cx="5394960" cy="1828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" y="27797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 数値風洞の典型精度 (1〜3%)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0" y="960120"/>
            <a:ext cx="2834640" cy="82296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0" y="978408"/>
            <a:ext cx="960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0.75%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949440" y="101498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最高精度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949440" y="1325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Stark-SB (中コスト)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943600" y="1920240"/>
            <a:ext cx="2834640" cy="82296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0" y="1938528"/>
            <a:ext cx="960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6949440" y="197510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位相保護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949440" y="22860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Berry γ (ノイズ耐性)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943600" y="2880360"/>
            <a:ext cx="2834640" cy="82296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0" y="2898648"/>
            <a:ext cx="960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0.84%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6949440" y="293522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モデル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949440" y="32461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高コストでも高精度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943600" y="3840480"/>
            <a:ext cx="2834640" cy="82296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0" y="3858768"/>
            <a:ext cx="960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&lt;2.1%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6949440" y="389534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全モデル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949440" y="4206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 数値精度と同水準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65760" y="47731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括弧内は計算コスト区分 (最小/極小/中/高 = 量子ゲート数)。Berry は位相誤差 0% を表示 (測定値 MAE は 12.7%)。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今後の展望 ― 量子シミュレーションの拡張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2286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2651760" cy="3977640"/>
          </a:xfrm>
          <a:prstGeom prst="rect">
            <a:avLst/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2651760" cy="402336"/>
          </a:xfrm>
          <a:prstGeom prst="rect">
            <a:avLst/>
          </a:prstGeom>
          <a:solidFill>
            <a:srgbClr val="17C3B2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近接課題 (NISQ)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75488" y="1444752"/>
            <a:ext cx="256032" cy="256032"/>
          </a:xfrm>
          <a:prstGeom prst="ellipse">
            <a:avLst/>
          </a:prstGeom>
          <a:solidFill>
            <a:srgbClr val="17C3B2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389888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Stark-SB の g × ε 二次元スキャン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臨界 α の外場依存性マップ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" y="2615184"/>
            <a:ext cx="256032" cy="256032"/>
          </a:xfrm>
          <a:prstGeom prst="ellipse">
            <a:avLst/>
          </a:prstGeom>
          <a:solidFill>
            <a:srgbClr val="17C3B2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56032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時間依存 Stark (AC シュタルク)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周波数応答の解析 (CFD FFT 類比)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" y="3785616"/>
            <a:ext cx="256032" cy="256032"/>
          </a:xfrm>
          <a:prstGeom prst="ellipse">
            <a:avLst/>
          </a:prstGeom>
          <a:solidFill>
            <a:srgbClr val="17C3B2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730752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Anderson-Newns ε_d スキャン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官能基 LUMO エネルギー依存性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46120" y="914400"/>
            <a:ext cx="2651760" cy="397764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914400"/>
            <a:ext cx="2651760" cy="402336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91440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中期課題 (2〜4 qubit)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355848" y="1444752"/>
            <a:ext cx="256032" cy="256032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03320" y="1389888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多モード JT (E×b モデル) — 3 qubit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より現実的な円錐交差モデル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355848" y="2615184"/>
            <a:ext cx="256032" cy="256032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03320" y="256032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Anderson-Newns 3 軌道版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より詳細な金属電子海の模擬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355848" y="3785616"/>
            <a:ext cx="256032" cy="256032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03320" y="3730752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 理論の量子シミュレーション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電子移動速度定数の直接計算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26480" y="914400"/>
            <a:ext cx="2651760" cy="3977640"/>
          </a:xfrm>
          <a:prstGeom prst="rect">
            <a:avLst/>
          </a:prstGeom>
          <a:solidFill>
            <a:srgbClr val="FFF8E5"/>
          </a:solidFill>
          <a:ln w="12700">
            <a:solidFill>
              <a:srgbClr val="FFF8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0" y="914400"/>
            <a:ext cx="2651760" cy="40233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91440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FT-QC への接続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236208" y="1444752"/>
            <a:ext cx="256032" cy="256032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1389888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 et al. (Xanadu, 2025)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一般化 AN: 196 論理 qubit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(現行 NISQ では未到達)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36208" y="2615184"/>
            <a:ext cx="256032" cy="256032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256032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核自由度付きフル GAN: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フォノン + フェルミオン同時シミュレーション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36208" y="3785616"/>
            <a:ext cx="256032" cy="256032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3730752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Quantum (2027+) での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誤り訂正実装へのロードマップ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3291840" cy="3291840"/>
          </a:xfrm>
          <a:prstGeom prst="ellipse">
            <a:avLst/>
          </a:prstGeom>
          <a:solidFill>
            <a:srgbClr val="17C3B2">
              <a:alpha val="17000"/>
            </a:srgbClr>
          </a:solidFill>
          <a:ln w="12700">
            <a:solidFill>
              <a:srgbClr val="17C3B2">
                <a:alpha val="1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3200400"/>
            <a:ext cx="2011680" cy="2011680"/>
          </a:xfrm>
          <a:prstGeom prst="ellipse">
            <a:avLst/>
          </a:prstGeom>
          <a:solidFill>
            <a:srgbClr val="17C3B2">
              <a:alpha val="28000"/>
            </a:srgbClr>
          </a:solidFill>
          <a:ln w="12700">
            <a:solidFill>
              <a:srgbClr val="17C3B2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48640" y="3840480"/>
            <a:ext cx="1828800" cy="1828800"/>
          </a:xfrm>
          <a:prstGeom prst="ellipse">
            <a:avLst/>
          </a:prstGeom>
          <a:solidFill>
            <a:srgbClr val="17C3B2">
              <a:alpha val="15000"/>
            </a:srgbClr>
          </a:solidFill>
          <a:ln w="12700">
            <a:solidFill>
              <a:srgbClr val="17C3B2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530352" cy="530352"/>
          </a:xfrm>
          <a:prstGeom prst="ellipse">
            <a:avLst/>
          </a:prstGeom>
          <a:solidFill>
            <a:srgbClr val="17C3B2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1069848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モデルを IBM Heron r2 実機で検証し、すべてで MAE &lt; 2.1% を達成。これは CFD 数値風洞 (1〜3%) と同水準の実用的精度であり、量子シミュレーションの工学的信頼性を示した。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530352" cy="530352"/>
          </a:xfrm>
          <a:prstGeom prst="ellipse">
            <a:avLst/>
          </a:prstGeom>
          <a:solidFill>
            <a:srgbClr val="17C3B2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860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2304288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つの物理的発見: Berry 位相のトポロジカル保護 (誤差 0%) / Stark 応答の非単調性 (最適駆動点 ε_opt ≈ 2Δ) / CNT 臨界径 d_c ≈ 1.2 nm (&lt; d_c なら Marcus 不適)。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530352" cy="530352"/>
          </a:xfrm>
          <a:prstGeom prst="ellipse">
            <a:avLst/>
          </a:prstGeom>
          <a:solidFill>
            <a:srgbClr val="17C3B2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5204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3538728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Anderson-Newns モデル (金属フェルミ電子への直接電荷移動) を NISQ で実証 (MAE=0.84%)。フォノン (SB) ・フェルミオン (AN) 両チャネルの個別検証が可能になり、CNT 界面の完全な反応速度論へと続く道筋を示した。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16052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9C4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PennyLane + IBM Quantum Platform による CNT 分子界面シミュレーション — 量子計算が CFD 材料設計の新しい入力ソースになる可能性を示した。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2026-07-24T00:21:43Z</dcterms:created>
  <dcterms:modified xsi:type="dcterms:W3CDTF">2026-07-24T00:21:43Z</dcterms:modified>
</cp:coreProperties>
</file>