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53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2535"/>
                </a:solidFill>
                <a:latin typeface="Arial"/>
              </a:rPr>
              <a:t>⟨ZI⟩ vs ε_Stark  (g=0.5, T=4.0)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IBM 実機</c:v>
                </c:pt>
              </c:strCache>
            </c:strRef>
          </c:tx>
          <c:spPr>
            <a:solidFill>
              <a:srgbClr val="17C3B2"/>
            </a:solidFill>
            <a:ln w="31750" cap="flat">
              <a:solidFill>
                <a:srgbClr val="17C3B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7C3B2"/>
              </a:solidFill>
              <a:ln w="9525" cap="flat">
                <a:solidFill>
                  <a:srgbClr val="17C3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0.00</c:v>
                  </c:pt>
                  <c:pt idx="1">
                    <c:v>0.25</c:v>
                  </c:pt>
                  <c:pt idx="2">
                    <c:v>0.50</c:v>
                  </c:pt>
                  <c:pt idx="3">
                    <c:v>1.00</c:v>
                  </c:pt>
                  <c:pt idx="4">
                    <c:v>2.00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0.2302</c:v>
                </c:pt>
                <c:pt idx="1">
                  <c:v>0.49</c:v>
                </c:pt>
                <c:pt idx="2">
                  <c:v>0.7429</c:v>
                </c:pt>
                <c:pt idx="3">
                  <c:v>0.9751</c:v>
                </c:pt>
                <c:pt idx="4">
                  <c:v>0.8113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厳密解</c:v>
                </c:pt>
              </c:strCache>
            </c:strRef>
          </c:tx>
          <c:spPr>
            <a:solidFill>
              <a:srgbClr val="1B4F72"/>
            </a:solidFill>
            <a:ln w="31750" cap="flat">
              <a:solidFill>
                <a:srgbClr val="1B4F7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4F72"/>
              </a:solidFill>
              <a:ln w="9525" cap="flat">
                <a:solidFill>
                  <a:srgbClr val="1B4F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0.00</c:v>
                  </c:pt>
                  <c:pt idx="1">
                    <c:v>0.25</c:v>
                  </c:pt>
                  <c:pt idx="2">
                    <c:v>0.50</c:v>
                  </c:pt>
                  <c:pt idx="3">
                    <c:v>1.00</c:v>
                  </c:pt>
                  <c:pt idx="4">
                    <c:v>2.00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0.2463</c:v>
                </c:pt>
                <c:pt idx="1">
                  <c:v>0.4955</c:v>
                </c:pt>
                <c:pt idx="2">
                  <c:v>0.7439</c:v>
                </c:pt>
                <c:pt idx="3">
                  <c:v>0.9956</c:v>
                </c:pt>
                <c:pt idx="4">
                  <c:v>0.8086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635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53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2535"/>
                </a:solidFill>
                <a:latin typeface="Arial"/>
              </a:rPr>
              <a:t>n_d(V)  初期状態: |10⟩ (分子占有)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IBM 実機</c:v>
                </c:pt>
              </c:strCache>
            </c:strRef>
          </c:tx>
          <c:spPr>
            <a:solidFill>
              <a:srgbClr val="17C3B2"/>
            </a:solidFill>
            <a:ln w="31750" cap="flat">
              <a:solidFill>
                <a:srgbClr val="17C3B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7C3B2"/>
              </a:solidFill>
              <a:ln w="9525" cap="flat">
                <a:solidFill>
                  <a:srgbClr val="17C3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0.10</c:v>
                  </c:pt>
                  <c:pt idx="1">
                    <c:v>0.20</c:v>
                  </c:pt>
                  <c:pt idx="2">
                    <c:v>0.30</c:v>
                  </c:pt>
                  <c:pt idx="3">
                    <c:v>0.50</c:v>
                  </c:pt>
                  <c:pt idx="4">
                    <c:v>0.80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0.8789</c:v>
                </c:pt>
                <c:pt idx="1">
                  <c:v>0.6304</c:v>
                </c:pt>
                <c:pt idx="2">
                  <c:v>0.4066</c:v>
                </c:pt>
                <c:pt idx="3">
                  <c:v>0.5033</c:v>
                </c:pt>
                <c:pt idx="4">
                  <c:v>0.9484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厳密解</c:v>
                </c:pt>
              </c:strCache>
            </c:strRef>
          </c:tx>
          <c:spPr>
            <a:solidFill>
              <a:srgbClr val="1B4F72"/>
            </a:solidFill>
            <a:ln w="31750" cap="flat">
              <a:solidFill>
                <a:srgbClr val="1B4F7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4F72"/>
              </a:solidFill>
              <a:ln w="9525" cap="flat">
                <a:solidFill>
                  <a:srgbClr val="1B4F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0.10</c:v>
                  </c:pt>
                  <c:pt idx="1">
                    <c:v>0.20</c:v>
                  </c:pt>
                  <c:pt idx="2">
                    <c:v>0.30</c:v>
                  </c:pt>
                  <c:pt idx="3">
                    <c:v>0.50</c:v>
                  </c:pt>
                  <c:pt idx="4">
                    <c:v>0.80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0.8931</c:v>
                </c:pt>
                <c:pt idx="1">
                  <c:v>0.6417</c:v>
                </c:pt>
                <c:pt idx="2">
                  <c:v>0.4099</c:v>
                </c:pt>
                <c:pt idx="3">
                  <c:v>0.5048</c:v>
                </c:pt>
                <c:pt idx="4">
                  <c:v>0.96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.35"/>
        </c:scaling>
        <c:delete val="0"/>
        <c:axPos val="l"/>
        <c:majorGridlines>
          <c:spPr>
            <a:ln w="635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(%)</c:v>
                </c:pt>
              </c:strCache>
            </c:strRef>
          </c:tx>
          <c:spPr>
            <a:solidFill>
              <a:srgbClr val="17C3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5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LZ
(0)</c:v>
                  </c:pt>
                  <c:pt idx="1">
                    <c:v>RZ
(0)</c:v>
                  </c:pt>
                  <c:pt idx="2">
                    <c:v>JT
(40)</c:v>
                  </c:pt>
                  <c:pt idx="3">
                    <c:v>Berry
位相(2)</c:v>
                  </c:pt>
                  <c:pt idx="4">
                    <c:v>SB
(40)</c:v>
                  </c:pt>
                  <c:pt idx="5">
                    <c:v>Stark-SB
(40)</c:v>
                  </c:pt>
                  <c:pt idx="6">
                    <c:v>AN
(80)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</c:v>
                </c:pt>
                <c:pt idx="1">
                  <c:v>0.89</c:v>
                </c:pt>
                <c:pt idx="2">
                  <c:v>2</c:v>
                </c:pt>
                <c:pt idx="3">
                  <c:v>0</c:v>
                </c:pt>
                <c:pt idx="4">
                  <c:v>1.26</c:v>
                </c:pt>
                <c:pt idx="5">
                  <c:v>0.75</c:v>
                </c:pt>
                <c:pt idx="6">
                  <c:v>0.84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25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CNOT 数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5"/>
          <c:min val="0"/>
        </c:scaling>
        <c:delete val="0"/>
        <c:axPos val="l"/>
        <c:majorGridlines>
          <c:spPr>
            <a:ln w="6350" cap="flat">
              <a:solidFill>
                <a:srgbClr val="E0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MAE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冒頭: 本日は PennyLane と IBM 量子実機を用いた CNT 界面の非断熱ダイナミクスシミュレーションの結果を報告します。7 種類のモデルを段階的に実装し、3 台のバックエンドで検証しました。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3291840" cy="3291840"/>
          </a:xfrm>
          <a:prstGeom prst="ellipse">
            <a:avLst/>
          </a:prstGeom>
          <a:solidFill>
            <a:srgbClr val="17C3B2">
              <a:alpha val="17000"/>
            </a:srgbClr>
          </a:solidFill>
          <a:ln w="12700">
            <a:solidFill>
              <a:srgbClr val="17C3B2">
                <a:alpha val="1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2926080"/>
            <a:ext cx="2011680" cy="2011680"/>
          </a:xfrm>
          <a:prstGeom prst="ellipse">
            <a:avLst/>
          </a:prstGeom>
          <a:solidFill>
            <a:srgbClr val="17C3B2">
              <a:alpha val="28000"/>
            </a:srgbClr>
          </a:solidFill>
          <a:ln w="12700">
            <a:solidFill>
              <a:srgbClr val="17C3B2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48640" y="3657600"/>
            <a:ext cx="1828800" cy="1828800"/>
          </a:xfrm>
          <a:prstGeom prst="ellipse">
            <a:avLst/>
          </a:prstGeom>
          <a:solidFill>
            <a:srgbClr val="17C3B2">
              <a:alpha val="15000"/>
            </a:srgbClr>
          </a:solidFill>
          <a:ln w="12700">
            <a:solidFill>
              <a:srgbClr val="17C3B2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34440"/>
            <a:ext cx="64008" cy="2651760"/>
          </a:xfrm>
          <a:prstGeom prst="rect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789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CNT + 官能基分子の非断熱反応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量子ハードウェア検証レポート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49631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9C4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PennyLane + IBM Quantum Platform (Heron r2)  ·  7 モデル  ·  3 バックエンド  ·  CNOT 0→80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4636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2026-07-23　|　社内量子コンピュータイニシアティブ 定例報告会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本日のアジェンダ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228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05840"/>
            <a:ext cx="512064" cy="512064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98755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研究背景・動機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29844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なぜ量子コンピュータで分子-金属界面を模擬するか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1645920"/>
            <a:ext cx="7680960" cy="10973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810512"/>
            <a:ext cx="512064" cy="512064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105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179222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実装した 7 モデル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210312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1-qubit (CNOT=0) から 2-qubit (CNOT=80) まで段階的拡張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05840" y="2450592"/>
            <a:ext cx="7680960" cy="10973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615184"/>
            <a:ext cx="512064" cy="512064"/>
          </a:xfrm>
          <a:prstGeom prst="ellipse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6151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596896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実機検証結果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1560" y="290779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ibm_marrakesh / ibm_fez / ibm_kingston での測定値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05840" y="3255264"/>
            <a:ext cx="7680960" cy="10973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419856"/>
            <a:ext cx="512064" cy="51206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4198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340156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主要な物理的発見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51560" y="371246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位相保護・非単調 Stark 応答・CNT 径スケーリング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05840" y="4059936"/>
            <a:ext cx="7680960" cy="10973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4224528"/>
            <a:ext cx="512064" cy="512064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224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420624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今後の展望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51560" y="451713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スキャン・多モード JT・FT-QC への道筋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研究背景: なぜ量子シミュレーションか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228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326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古典計算の限界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3441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非断熱電子-核結合は指数的コスト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739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MCTDH は自由度 ~20 で限界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037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多体 Kondo 効果は近似不可避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15968" y="2057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846320" y="9326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量子シミュレーションの優位性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3441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実時間ダイナミクスは量子が有利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7739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Trotter 誤差は制御・定量化可能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22037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小系から段階的スケールアップ可能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18688"/>
            <a:ext cx="8229600" cy="1627632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9184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本研究のスコープ: CNT + 官能基分子系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675888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カーボンナノチューブ (CNT) と官能基 (-COOH, -OH 等) の界面における非断熱電荷移動・エネルギー移動を量子回路で模擬。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1-qubit の線形掃引モデルから 2-qubit のフェルミオン電子移動モデルまで 7 種類を IBM 量子実機で検証し、厳密解と定量比較した。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実装した 7 モデル: 概要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228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788920"/>
                <a:gridCol w="685800"/>
                <a:gridCol w="685800"/>
                <a:gridCol w="868680"/>
                <a:gridCol w="23317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モデル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Qubit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バックエンド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Landau-Zener (LZ)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ibm_kingston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Rosen-Zener (RZ)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ibm_marrakesh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Jahn-Teller (JT)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ibm_fez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Berry 位相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ibm_fez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Spin-Boson (SB)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ibm_marrakesh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Stark-SB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ibm_marrakesh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Anderson-Newns (AN)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ibm_marrakesh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817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Berry 位相は overlap MAE = 12.7% だが、Berry 位相 γ の誤差は 0%。トポロジカル保護による。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 は本研究で初めて実装したフェルミオン金属電子モデル。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1-qubit モデル: Landau-Zener &amp; Rosen-Zener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228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3931920" cy="3913632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00584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Landau-Zener (LZ)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30352" y="13533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(αt/2)·Z + (Δ/2)·X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1737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ibm_kingston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670048" y="1737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バックエンド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215798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670048" y="215798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CNOT / 回路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2578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~2.0%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670048" y="257860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29992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線形時間変化磁場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670048" y="299923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物理モデル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341985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ショット + 読み出し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670048" y="341985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主誤差源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9136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~2.0%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914400" y="44805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914400"/>
            <a:ext cx="3931920" cy="3913632"/>
          </a:xfrm>
          <a:prstGeom prst="rect">
            <a:avLst/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10912" y="100584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Rosen-Zener (RZ)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10912" y="13533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(ε₀/2)·Z + (Δ₀·sech(t/τ)/2)·X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10912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ibm_marrakesh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242048" y="1737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バックエンド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10912" y="21579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242048" y="215798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CNOT / 回路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10912" y="25786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0.89%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242048" y="257860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(全 15 回路)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10912" y="29992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sech パルス周期振動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242048" y="299923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物理モデル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10912" y="34198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ショット + 読み出し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242048" y="341985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主誤差源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0" y="39136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0.89%</a:t>
            </a:r>
            <a:endParaRPr lang="en-US" sz="4200" dirty="0"/>
          </a:p>
        </p:txBody>
      </p:sp>
      <p:sp>
        <p:nvSpPr>
          <p:cNvPr id="33" name="Text 31"/>
          <p:cNvSpPr/>
          <p:nvPr/>
        </p:nvSpPr>
        <p:spPr>
          <a:xfrm>
            <a:off x="5486400" y="44805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Jahn-Teller 時間発展 &amp; Berry 位相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228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3977640" cy="3913632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875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Jahn-Teller (JT)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30352" y="1335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(ε/2)·ZI + (ω/2)·IZ + g·XX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73352"/>
          <a:ext cx="374904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024128"/>
                <a:gridCol w="1024128"/>
                <a:gridCol w="1014984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P_IBM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P_exact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誤差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30352" y="40599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2.0%  |  CNOT = 40  |  ibm_fez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30352" y="43525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 P_IBM &lt; P_exact → T1 緩和の系統的署名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00600" y="914400"/>
            <a:ext cx="3977640" cy="3913632"/>
          </a:xfrm>
          <a:prstGeom prst="rect">
            <a:avLst/>
          </a:prstGeom>
          <a:solidFill>
            <a:srgbClr val="E8F8F5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56048" y="9875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Berry 位相 Wilson Loop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120640" y="141732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000" dirty="0"/>
          </a:p>
        </p:txBody>
      </p:sp>
      <p:sp>
        <p:nvSpPr>
          <p:cNvPr id="13" name="Text 10"/>
          <p:cNvSpPr/>
          <p:nvPr/>
        </p:nvSpPr>
        <p:spPr>
          <a:xfrm>
            <a:off x="5120640" y="23957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Berry 位相 γ の誤差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937760" y="2788920"/>
            <a:ext cx="3703320" cy="13716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56048" y="28529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γ = π を完全再現 (誤差 0.000%)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956048" y="3255264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overlap MAE = 12.7% でも位相は保護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956048" y="36576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CNOT = 2 のみの軽量回路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956048" y="405993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トポロジカル保護の NISQ 実証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Spin-Boson モデル: コヒーレント-局在化クロスオーバー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228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4160520" cy="3913632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875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(ε/2)·ZI + (Δ/2)·XI + (ω/2)·IZ + g·ZX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16736"/>
          <a:ext cx="3977640" cy="914400"/>
        </p:xfrm>
        <a:graphic>
          <a:graphicData uri="http://schemas.openxmlformats.org/drawingml/2006/table">
            <a:tbl>
              <a:tblPr/>
              <a:tblGrid>
                <a:gridCol w="530352"/>
                <a:gridCol w="530352"/>
                <a:gridCol w="960120"/>
                <a:gridCol w="1005840"/>
                <a:gridCol w="950976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⟨ZI⟩_IBM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⟨ZI⟩_exact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状態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-0.2512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-0.2537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コヒーレント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-0.0159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境界 (ゼロ)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+0.2302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+0.2463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7C3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Toulouse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+0.3875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+0.3639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局在化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+0.4888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+0.4918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強局在化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30352" y="4096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1.26%  |  CNOT = 40  |  ibm_marrakesh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30352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⟨ZI⟩ の符号変化 (負→正) で相転移を直接観測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709160" y="9601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Kondo パラメータ α = 2g²/ω²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09160" y="1417320"/>
            <a:ext cx="1188720" cy="118872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09160" y="14173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&lt; 0.5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63440" y="2679192"/>
            <a:ext cx="128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コヒーレント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トンネル支配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80760" y="1417320"/>
            <a:ext cx="1188720" cy="1188720"/>
          </a:xfrm>
          <a:prstGeom prst="ellipse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80760" y="14173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0.5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035040" y="2679192"/>
            <a:ext cx="128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Toulouse 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高感受率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452360" y="1417320"/>
            <a:ext cx="1188720" cy="118872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52360" y="14173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&gt; 0.5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406640" y="2679192"/>
            <a:ext cx="128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局在化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古典速度論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577840" y="17373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9C4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6949440" y="17373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9C4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4709160" y="3401568"/>
            <a:ext cx="4023360" cy="1389888"/>
          </a:xfrm>
          <a:prstGeom prst="rect">
            <a:avLst/>
          </a:prstGeom>
          <a:solidFill>
            <a:srgbClr val="EBF5FB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46320" y="3474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CNT(10,10) → α ≈ 0.65 (局在化相)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846320" y="377647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SB 実機結果から CNT(10,10) が局在化相であることを実証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径依存性: α ∝ d²  →  臨界径 d_c ≈ 1.2 nm の存在を示唆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 &lt; 1.2 nm: 量子トンネル支配  |  d &gt; 1.2 nm: 古典速度論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Stark-Spin-Boson: 非単調応答の発見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228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46520" y="182880"/>
            <a:ext cx="2240280" cy="393192"/>
          </a:xfrm>
          <a:prstGeom prst="roundRect">
            <a:avLst>
              <a:gd name="adj" fmla="val 23256"/>
            </a:avLst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182880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3931920" cy="301752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87552"/>
          <a:ext cx="3749040" cy="914400"/>
        </p:xfrm>
        <a:graphic>
          <a:graphicData uri="http://schemas.openxmlformats.org/drawingml/2006/table">
            <a:tbl>
              <a:tblPr/>
              <a:tblGrid>
                <a:gridCol w="804672"/>
                <a:gridCol w="969264"/>
                <a:gridCol w="1005840"/>
                <a:gridCol w="8961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ε_Stark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⟨ZI⟩_IBM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⟨ZI⟩_exact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誤差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+0.2302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+0.2463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+0.4900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+0.4955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+0.7429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+0.7439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7C3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+0.9751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7C3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+0.9956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+0.8113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+0.8086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30352" y="333756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0.75% (4 新規回路)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ibm_marrakesh | CNOT = 40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434840" y="914400"/>
          <a:ext cx="42519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6"/>
          <p:cNvSpPr/>
          <p:nvPr/>
        </p:nvSpPr>
        <p:spPr>
          <a:xfrm>
            <a:off x="365760" y="4005072"/>
            <a:ext cx="8321040" cy="10241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407822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ε=1.0 (=2Δ) で局在化が極大　|　ε=2.0 で量子干渉により再び減少　|　最適ゲート電圧 ε_opt ≈ 2Δ の存在を示唆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48640" y="44531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 周波数 Ω=√(ε²+Δ²) が増大 → T=4.0 固定では ε=1.0 で建設的干渉、ε=2.0 で「戻り」フェーズ → IBM 実機・厳密解双方で非単調性を確認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Anderson-Newns モデル: フェルミオン金属電子結合 [新規]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228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182880"/>
            <a:ext cx="2743200" cy="393192"/>
          </a:xfrm>
          <a:prstGeom prst="roundRect">
            <a:avLst>
              <a:gd name="adj" fmla="val 23256"/>
            </a:avLst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0" y="182880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 —  ボゾン→フェルミオン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160520" cy="3913632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9875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ε_d n_d + ε_k n_k + V (c†c_k + h.c.)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2801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JW→2 qubit, IsingXY (XX+YY)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3931920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1024128"/>
                <a:gridCol w="1051560"/>
                <a:gridCol w="1106424"/>
              </a:tblGrid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n_d_IBM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n_d_exact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誤差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0.8789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0.8931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0.6417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0.4066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0.4099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0.5033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0.5048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7C3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0.9484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30352" y="4096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0.84%  |  CNOT = 80  |  ibm_marrakesh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30352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全点で n_d_IBM &lt; n_d_exact → T1 緩和が電荷占有を系統的に過小評価</a:t>
            </a:r>
            <a:endParaRPr lang="en-US" sz="11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709160" y="914400"/>
          <a:ext cx="39776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9"/>
          <p:cNvSpPr/>
          <p:nvPr/>
        </p:nvSpPr>
        <p:spPr>
          <a:xfrm>
            <a:off x="4709160" y="3749040"/>
            <a:ext cx="3977640" cy="1097280"/>
          </a:xfrm>
          <a:prstGeom prst="rect">
            <a:avLst/>
          </a:prstGeom>
          <a:solidFill>
            <a:srgbClr val="E8F8F5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846320" y="3822192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n_d ≈ 0.5 (V=0.50) で最小誤差 0.30% → T1 誤差が対称点でキャンセル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846320" y="4279392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V=0.30 で極小→V=0.80 で増大 → 非単調応答 (Stark と同機構)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主要な物理的発見: 4 つのハイライト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228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114800" cy="1938528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069848"/>
            <a:ext cx="475488" cy="475488"/>
          </a:xfrm>
          <a:prstGeom prst="ellipse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69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069848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位相保護の実証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5488" y="1536192"/>
            <a:ext cx="3895344" cy="10973"/>
          </a:xfrm>
          <a:prstGeom prst="rect">
            <a:avLst/>
          </a:prstGeom>
          <a:solidFill>
            <a:srgbClr val="D0DEF0"/>
          </a:solidFill>
          <a:ln w="12700">
            <a:solidFill>
              <a:srgbClr val="D0DE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600200"/>
            <a:ext cx="389534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MAE = 12.7% のノイズ下でも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Berry 位相 γ = π を誤差 0% で再現。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NISQ でのトポロジカル保護を直接実証。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114800" cy="1938528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73168" y="1069848"/>
            <a:ext cx="475488" cy="47548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069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49240" y="1069848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非単調 Stark 応答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773168" y="1536192"/>
            <a:ext cx="3895344" cy="10973"/>
          </a:xfrm>
          <a:prstGeom prst="rect">
            <a:avLst/>
          </a:prstGeom>
          <a:solidFill>
            <a:srgbClr val="D0DEF0"/>
          </a:solidFill>
          <a:ln w="12700">
            <a:solidFill>
              <a:srgbClr val="D0DE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1600200"/>
            <a:ext cx="389534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ε=1.0 (=2Δ) で ⟨ZI⟩ が極大、ε=2.0 で減少。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最適ゲート電圧 ε_opt ≈ 2Δ の存在を示唆。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実機・厳密解双方で非単調性確認。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4114800" cy="1938528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3127248"/>
            <a:ext cx="475488" cy="475488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127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3127248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CNT 径依存性 α ∝ d²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75488" y="3593592"/>
            <a:ext cx="3895344" cy="10973"/>
          </a:xfrm>
          <a:prstGeom prst="rect">
            <a:avLst/>
          </a:prstGeom>
          <a:solidFill>
            <a:srgbClr val="D0DEF0"/>
          </a:solidFill>
          <a:ln w="12700">
            <a:solidFill>
              <a:srgbClr val="D0DE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657600"/>
            <a:ext cx="389534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臨界径 d_c ≈ 1.2 nm を推定。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&lt; 1.2 nm: 量子トンネル支配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&gt; 1.2 nm: 古典遷移状態理論が適用可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663440" y="3017520"/>
            <a:ext cx="4114800" cy="1938528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73168" y="3127248"/>
            <a:ext cx="475488" cy="47548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3127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49240" y="3127248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NISQ 高精度の実証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773168" y="3593592"/>
            <a:ext cx="3895344" cy="10973"/>
          </a:xfrm>
          <a:prstGeom prst="rect">
            <a:avLst/>
          </a:prstGeom>
          <a:solidFill>
            <a:srgbClr val="D0DEF0"/>
          </a:solidFill>
          <a:ln w="12700">
            <a:solidFill>
              <a:srgbClr val="D0DE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3657600"/>
            <a:ext cx="389534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Heron r2 で CNOT=80 でも MAE=0.84%。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 7 モデルで MAE &lt; 2.1%。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CNOT の AN が 40 CNOT の SB を上回る。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CNT 径依存性: 臨界径 d_c ≈ 1.2 nm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228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3931920" cy="205740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875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スケーリング則 (変形ポテンシャル近似)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0352" y="13716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ω_RBM ∝ 1/d　(実測: ω ≈ 248/d cm⁻¹)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≈ 一定 (変形ポテンシャル近似)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α = 2g²/ω² ∝ d²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2350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g の径依存性が有意な場合 d_c は変化 (要検証)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914400"/>
          <a:ext cx="425196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868680"/>
                <a:gridCol w="96012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(nm)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(推定)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反応機構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(4,4)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量子トンネル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(5,5)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コヒーレント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(8,8)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コヒーレント境界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(10,10)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7C3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7C3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局在化 ← 今回実証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(20,20)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古典遷移状態理論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3090672"/>
            <a:ext cx="8321040" cy="1719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18211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臨界径  d_c ≈ 1.2 nm  (α = 0.5 = Toulouse 点)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48640" y="3611880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&lt; 1.2 nm (細径): 量子トンネル・非断熱遷移が支配的  →  Marcus モデル不適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395935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&gt; 1.2 nm (大径): 古典的速度論が適用可能  →  遷移状態理論で反応速度を推定可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43159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C4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 ≈ 一定近似に依存 — 実験・ab initio との比較で要検証)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全モデル精度比較 (MAE)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228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3949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960120"/>
            <a:ext cx="2834640" cy="86868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0" y="978408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0.75%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949440" y="101498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 MAE 精度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949440" y="13441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Stark-SB  (40 CNOT)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0" y="1965960"/>
            <a:ext cx="2834640" cy="86868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0" y="1984248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949440" y="202082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位相保護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949440" y="235000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Berry γ (overlap MAE=12.7%)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43600" y="2971800"/>
            <a:ext cx="2834640" cy="86868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0" y="2990088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0.84%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949440" y="302666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モデル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949440" y="335584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CNOT=80 で SB (1.26%) を上回る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943600" y="3977640"/>
            <a:ext cx="2834640" cy="86868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0" y="3995928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&lt;2.1%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6949440" y="403250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全モデル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949440" y="436168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CNOT=0−80 で達成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65760" y="47731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グラフ横軸の括弧内は CNOT 数 / 回路。Berry は overlap 誤差ではなく位相誤差 0% を表示。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今後の展望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228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2651760" cy="3977640"/>
          </a:xfrm>
          <a:prstGeom prst="rect">
            <a:avLst/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2651760" cy="402336"/>
          </a:xfrm>
          <a:prstGeom prst="rect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近接課題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5488" y="1444752"/>
            <a:ext cx="256032" cy="256032"/>
          </a:xfrm>
          <a:prstGeom prst="ellipse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389888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Stark-SB の g × ε 二次元スキャン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Toulouse 点感受率の α 依存性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" y="2615184"/>
            <a:ext cx="256032" cy="256032"/>
          </a:xfrm>
          <a:prstGeom prst="ellipse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56032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時間依存 Stark (AC シュタルク)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dressed state Berry 位相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" y="3785616"/>
            <a:ext cx="256032" cy="256032"/>
          </a:xfrm>
          <a:prstGeom prst="ellipse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730752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Anderson-Newns ε_d スキャン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分子 LUMO エネルギー依存性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46120" y="914400"/>
            <a:ext cx="2651760" cy="397764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914400"/>
            <a:ext cx="2651760" cy="40233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91440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中期課題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355848" y="1444752"/>
            <a:ext cx="256032" cy="256032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1389888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多モード JT (E×b) — 3 qubit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より現実的な円錐交差モデル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355848" y="2615184"/>
            <a:ext cx="256032" cy="256032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256032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Anderson-Newns 3 軌道版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より実際的な金属電子海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55848" y="3785616"/>
            <a:ext cx="256032" cy="256032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3730752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理論の量子シミュレーション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電子移動速度定数の直接計算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26480" y="914400"/>
            <a:ext cx="2651760" cy="3977640"/>
          </a:xfrm>
          <a:prstGeom prst="rect">
            <a:avLst/>
          </a:prstGeom>
          <a:solidFill>
            <a:srgbClr val="FFF8E5"/>
          </a:solidFill>
          <a:ln w="12700">
            <a:solidFill>
              <a:srgbClr val="FFF8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914400"/>
            <a:ext cx="2651760" cy="40233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91440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FT-QC への接続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36208" y="1444752"/>
            <a:ext cx="256032" cy="25603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1389888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 et al. (Xanadu, 2025)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一般化 AN: 196 論理 qubit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2.3×10⁷ Toffoli gates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36208" y="2615184"/>
            <a:ext cx="256032" cy="25603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256032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核自由度付きフル GAN: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QROM + 位相勾配演算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(現行 NISQ では未実現)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36208" y="3785616"/>
            <a:ext cx="256032" cy="25603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3730752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Quantum (2027+) での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誤り訂正実装への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ロードマップを検討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3291840" cy="3291840"/>
          </a:xfrm>
          <a:prstGeom prst="ellipse">
            <a:avLst/>
          </a:prstGeom>
          <a:solidFill>
            <a:srgbClr val="17C3B2">
              <a:alpha val="17000"/>
            </a:srgbClr>
          </a:solidFill>
          <a:ln w="12700">
            <a:solidFill>
              <a:srgbClr val="17C3B2">
                <a:alpha val="1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3200400"/>
            <a:ext cx="2011680" cy="2011680"/>
          </a:xfrm>
          <a:prstGeom prst="ellipse">
            <a:avLst/>
          </a:prstGeom>
          <a:solidFill>
            <a:srgbClr val="17C3B2">
              <a:alpha val="28000"/>
            </a:srgbClr>
          </a:solidFill>
          <a:ln w="12700">
            <a:solidFill>
              <a:srgbClr val="17C3B2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48640" y="3840480"/>
            <a:ext cx="1828800" cy="1828800"/>
          </a:xfrm>
          <a:prstGeom prst="ellipse">
            <a:avLst/>
          </a:prstGeom>
          <a:solidFill>
            <a:srgbClr val="17C3B2">
              <a:alpha val="15000"/>
            </a:srgbClr>
          </a:solidFill>
          <a:ln w="12700">
            <a:solidFill>
              <a:srgbClr val="17C3B2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30352" cy="530352"/>
          </a:xfrm>
          <a:prstGeom prst="ellipse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069848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モデルを IBM Heron r2 実機で実装・検証し、すべてで MAE &lt; 2.1% を達成。CNOT=0 (1-qubit) から CNOT=80 (Anderson-Newns) まで段階的に拡張した。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530352" cy="530352"/>
          </a:xfrm>
          <a:prstGeom prst="ellipse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317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350008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Berry 位相の位相保護 (誤差 0%) / Stark 応答の非単調性 (ε_opt≈2Δ) / CNT 臨界径 d_c≈1.2 nm という 3 つの物理的発見を得た。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30352" cy="530352"/>
          </a:xfrm>
          <a:prstGeom prst="ellipse">
            <a:avLst/>
          </a:prstGeom>
          <a:solidFill>
            <a:srgbClr val="17C3B2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611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3630168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Anderson-Newns モデル (フェルミオン電子移動) で MAE=0.84% を実証。ボゾン場結合 (SB) からフェルミオン金属結合 (AN) への拡張が NISQ で有効であることを確認した。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413308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9C4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PennyLane + IBM Quantum Platform による CNT 分子界面の非断熱ダイナミクスシミュレーションの実現可能性と高精度を確認。今後は 2D パラメータスキャン・多軌道モデル・核自由度付き GAN へと展開する。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2026-07-23T23:07:49Z</dcterms:created>
  <dcterms:modified xsi:type="dcterms:W3CDTF">2026-07-23T23:07:49Z</dcterms:modified>
</cp:coreProperties>
</file>